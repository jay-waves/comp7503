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305" r:id="rId2"/>
    <p:sldId id="311" r:id="rId3"/>
    <p:sldId id="314" r:id="rId4"/>
    <p:sldId id="312" r:id="rId5"/>
    <p:sldId id="313" r:id="rId6"/>
    <p:sldId id="315" r:id="rId7"/>
    <p:sldId id="316" r:id="rId8"/>
    <p:sldId id="318" r:id="rId9"/>
    <p:sldId id="256" r:id="rId10"/>
    <p:sldId id="317" r:id="rId11"/>
    <p:sldId id="292" r:id="rId12"/>
    <p:sldId id="257" r:id="rId13"/>
    <p:sldId id="293" r:id="rId14"/>
    <p:sldId id="319" r:id="rId15"/>
    <p:sldId id="294" r:id="rId16"/>
    <p:sldId id="260" r:id="rId17"/>
    <p:sldId id="295" r:id="rId18"/>
    <p:sldId id="296" r:id="rId19"/>
    <p:sldId id="297" r:id="rId20"/>
    <p:sldId id="298" r:id="rId21"/>
    <p:sldId id="299" r:id="rId22"/>
    <p:sldId id="302" r:id="rId23"/>
    <p:sldId id="303" r:id="rId24"/>
    <p:sldId id="304" r:id="rId25"/>
    <p:sldId id="276" r:id="rId26"/>
    <p:sldId id="277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306" r:id="rId37"/>
    <p:sldId id="307" r:id="rId38"/>
    <p:sldId id="308" r:id="rId39"/>
    <p:sldId id="309" r:id="rId40"/>
    <p:sldId id="310" r:id="rId41"/>
  </p:sldIdLst>
  <p:sldSz cx="13004800" cy="9753600"/>
  <p:notesSz cx="13004800" cy="9753600"/>
  <p:custDataLst>
    <p:tags r:id="rId4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5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212"/>
    <p:restoredTop sz="74210"/>
  </p:normalViewPr>
  <p:slideViewPr>
    <p:cSldViewPr>
      <p:cViewPr>
        <p:scale>
          <a:sx n="51" d="100"/>
          <a:sy n="51" d="100"/>
        </p:scale>
        <p:origin x="144" y="712"/>
      </p:cViewPr>
      <p:guideLst>
        <p:guide orient="horz" pos="2845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7366000" y="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F519F-BDAE-584E-B5C4-8BED370C453D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06888" y="1219200"/>
            <a:ext cx="4391025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7366000" y="926465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D5EFB-D3E2-B74C-8222-6EC63BDEC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8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r>
              <a:rPr lang="zh-CN" altLang="en-US" dirty="0"/>
              <a:t> </a:t>
            </a:r>
            <a:r>
              <a:rPr lang="en-US" altLang="zh-CN" dirty="0"/>
              <a:t>program.</a:t>
            </a:r>
          </a:p>
          <a:p>
            <a:r>
              <a:rPr lang="en-US" altLang="zh-CN" dirty="0"/>
              <a:t>Fetch</a:t>
            </a:r>
            <a:r>
              <a:rPr lang="zh-CN" altLang="en-US" dirty="0"/>
              <a:t> </a:t>
            </a:r>
            <a:r>
              <a:rPr lang="en-US" altLang="zh-CN" dirty="0"/>
              <a:t>temperature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HK</a:t>
            </a:r>
            <a:r>
              <a:rPr lang="zh-CN" altLang="en-US" dirty="0"/>
              <a:t> </a:t>
            </a:r>
            <a:r>
              <a:rPr lang="en-US" altLang="zh-CN" dirty="0"/>
              <a:t>Observatory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Plot</a:t>
            </a:r>
            <a:r>
              <a:rPr lang="zh-CN" altLang="en-US" dirty="0"/>
              <a:t> </a:t>
            </a:r>
            <a:r>
              <a:rPr lang="en-US" altLang="zh-CN" dirty="0"/>
              <a:t>historical</a:t>
            </a:r>
            <a:r>
              <a:rPr lang="zh-CN" altLang="en-US" dirty="0"/>
              <a:t> </a:t>
            </a:r>
            <a:r>
              <a:rPr lang="en-US" altLang="zh-CN" dirty="0"/>
              <a:t>temperature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various</a:t>
            </a:r>
            <a:r>
              <a:rPr lang="zh-CN" altLang="en-US" dirty="0"/>
              <a:t> </a:t>
            </a:r>
            <a:r>
              <a:rPr lang="en-US" altLang="zh-CN" dirty="0"/>
              <a:t>locations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HK. for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D5EFB-D3E2-B74C-8222-6EC63BDEC3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32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historical</a:t>
            </a:r>
            <a:r>
              <a:rPr lang="zh-CN" altLang="en-US" dirty="0"/>
              <a:t> </a:t>
            </a:r>
            <a:r>
              <a:rPr lang="en-US" altLang="zh-CN" dirty="0"/>
              <a:t>temperature</a:t>
            </a:r>
            <a:r>
              <a:rPr lang="zh-CN" altLang="en-US" dirty="0"/>
              <a:t> </a:t>
            </a:r>
            <a:r>
              <a:rPr lang="en-US" altLang="zh-CN" dirty="0"/>
              <a:t>chart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D5EFB-D3E2-B74C-8222-6EC63BDEC3E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829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A </a:t>
            </a:r>
            <a:r>
              <a:rPr lang="en-US" sz="1200" b="1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container</a:t>
            </a:r>
            <a:r>
              <a:rPr lang="en-US" sz="1200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is a lightweight, stand-alone, executable package that includes everything needed to run a piece of software, including the code, runtime, libraries, and system settings.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D5EFB-D3E2-B74C-8222-6EC63BDEC3E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48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CI</a:t>
            </a:r>
            <a:r>
              <a:rPr lang="zh-CN" altLang="en-US" dirty="0"/>
              <a:t> </a:t>
            </a:r>
            <a:r>
              <a:rPr lang="en-US" altLang="zh-CN" dirty="0"/>
              <a:t>pipeline:</a:t>
            </a:r>
            <a:r>
              <a:rPr lang="zh-CN" altLang="en-US" dirty="0"/>
              <a:t> </a:t>
            </a:r>
            <a:r>
              <a:rPr lang="en-US" altLang="zh-CN" dirty="0"/>
              <a:t>continuous</a:t>
            </a:r>
            <a:r>
              <a:rPr lang="zh-CN" altLang="en-US" dirty="0"/>
              <a:t> </a:t>
            </a:r>
            <a:r>
              <a:rPr lang="en-US" altLang="zh-CN" dirty="0"/>
              <a:t>integration</a:t>
            </a:r>
            <a:r>
              <a:rPr lang="zh-CN" altLang="en-US" dirty="0"/>
              <a:t> </a:t>
            </a:r>
            <a:r>
              <a:rPr lang="en-US" altLang="zh-CN" dirty="0"/>
              <a:t>pipeline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D5EFB-D3E2-B74C-8222-6EC63BDEC3E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043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sudo</a:t>
            </a:r>
            <a:r>
              <a:rPr lang="en-US" altLang="zh-CN" sz="12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docker run -</a:t>
            </a:r>
            <a:r>
              <a:rPr lang="en-US" altLang="zh-CN" sz="12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itd</a:t>
            </a:r>
            <a:r>
              <a:rPr lang="en-US" altLang="zh-CN" sz="12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-p 1880:1880 -v /opt/</a:t>
            </a:r>
            <a:r>
              <a:rPr lang="en-US" altLang="zh-CN" sz="12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node_red</a:t>
            </a:r>
            <a:r>
              <a:rPr lang="en-US" altLang="zh-CN" sz="12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:/data --name </a:t>
            </a:r>
            <a:r>
              <a:rPr lang="en-US" altLang="zh-CN" sz="12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nodered</a:t>
            </a:r>
            <a:r>
              <a:rPr lang="en-US" altLang="zh-CN" sz="12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12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nodered</a:t>
            </a:r>
            <a:r>
              <a:rPr lang="en-US" altLang="zh-CN" sz="12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/node-red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D5EFB-D3E2-B74C-8222-6EC63BDEC3E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916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do we do this here 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D5EFB-D3E2-B74C-8222-6EC63BDEC3E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5993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D5EFB-D3E2-B74C-8222-6EC63BDEC3E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3057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D5EFB-D3E2-B74C-8222-6EC63BDEC3E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596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docker exec -it </a:t>
            </a:r>
            <a:r>
              <a:rPr kumimoji="1" lang="en-US" altLang="zh-CN" dirty="0" err="1"/>
              <a:t>Mymongo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mongosh</a:t>
            </a:r>
            <a:endParaRPr kumimoji="1" lang="en-US" altLang="zh-CN" dirty="0"/>
          </a:p>
          <a:p>
            <a:r>
              <a:rPr kumimoji="1" lang="en-US" altLang="zh-CN" dirty="0"/>
              <a:t>docker exec -it </a:t>
            </a:r>
            <a:r>
              <a:rPr kumimoji="1" lang="en-US" altLang="zh-CN" dirty="0" err="1"/>
              <a:t>Mymongo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mongosh</a:t>
            </a:r>
            <a:r>
              <a:rPr kumimoji="1" lang="en-US" altLang="zh-CN" dirty="0"/>
              <a:t> --port 27017 -u admin -p 666712 --</a:t>
            </a:r>
            <a:r>
              <a:rPr kumimoji="1" lang="en-US" altLang="zh-CN" dirty="0" err="1"/>
              <a:t>authenticationDatabase</a:t>
            </a:r>
            <a:r>
              <a:rPr kumimoji="1" lang="en-US" altLang="zh-CN" dirty="0"/>
              <a:t> admin (why?)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D5EFB-D3E2-B74C-8222-6EC63BDEC3E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410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if you have exited </a:t>
            </a:r>
            <a:r>
              <a:rPr lang="en-US" altLang="zh-CN" sz="12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nodered</a:t>
            </a:r>
            <a:r>
              <a:rPr lang="en-US" altLang="zh-CN" sz="12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: </a:t>
            </a:r>
            <a:r>
              <a:rPr lang="en-US" altLang="zh-CN" sz="12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sudo</a:t>
            </a:r>
            <a:r>
              <a:rPr lang="en-US" altLang="zh-CN" sz="12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docker run -</a:t>
            </a:r>
            <a:r>
              <a:rPr lang="en-US" altLang="zh-CN" sz="12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itd</a:t>
            </a:r>
            <a:r>
              <a:rPr lang="en-US" altLang="zh-CN" sz="12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-p 1880:1880 -v /opt/</a:t>
            </a:r>
            <a:r>
              <a:rPr lang="en-US" altLang="zh-CN" sz="12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node_red</a:t>
            </a:r>
            <a:r>
              <a:rPr lang="en-US" altLang="zh-CN" sz="12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:/data --name </a:t>
            </a:r>
            <a:r>
              <a:rPr lang="en-US" altLang="zh-CN" sz="12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nodered</a:t>
            </a:r>
            <a:r>
              <a:rPr lang="en-US" altLang="zh-CN" sz="12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12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nodered</a:t>
            </a:r>
            <a:r>
              <a:rPr lang="en-US" altLang="zh-CN" sz="12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/node-red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D5EFB-D3E2-B74C-8222-6EC63BDEC3E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287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Mac user: node-red-contrib-mongodb3 + node-red-dashboard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D5EFB-D3E2-B74C-8222-6EC63BDEC3E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92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page shows MongoDB compass. if on mac: brew install --cask </a:t>
            </a:r>
            <a:r>
              <a:rPr lang="en-US" dirty="0" err="1"/>
              <a:t>mongodb</a:t>
            </a:r>
            <a:r>
              <a:rPr lang="en-US" dirty="0"/>
              <a:t>-compass</a:t>
            </a:r>
            <a:r>
              <a:rPr lang="en-US" altLang="zh-CN" dirty="0"/>
              <a:t>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go to mongodb compass, add connection localhost: 27017</a:t>
            </a:r>
          </a:p>
          <a:p>
            <a:endParaRPr lang="en-US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D5EFB-D3E2-B74C-8222-6EC63BDEC3E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0800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If you are using Mac:</a:t>
            </a:r>
          </a:p>
          <a:p>
            <a:r>
              <a:rPr lang="en-CN" dirty="0"/>
              <a:t>go to HKO node, set server to: </a:t>
            </a:r>
            <a:r>
              <a:rPr lang="en-US" dirty="0" err="1"/>
              <a:t>mongodb</a:t>
            </a:r>
            <a:r>
              <a:rPr lang="en-US" dirty="0"/>
              <a:t>://host.docker.internal:27017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D5EFB-D3E2-B74C-8222-6EC63BDEC3E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8950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D5EFB-D3E2-B74C-8222-6EC63BDEC3E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4388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D5EFB-D3E2-B74C-8222-6EC63BDEC3E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82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18309" y="812800"/>
            <a:ext cx="9568180" cy="1092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rgbClr val="D93E2B"/>
                </a:solidFill>
                <a:latin typeface="Garamond" panose="02020404030301010803"/>
                <a:cs typeface="Garamond" panose="02020404030301010803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414141"/>
                </a:solidFill>
                <a:latin typeface="Book Antiqua" panose="02040602050305030304"/>
                <a:cs typeface="Book Antiqua" panose="02040602050305030304"/>
              </a:defRPr>
            </a:lvl1pPr>
          </a:lstStyle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B4910-E4A3-4963-BA50-5CE45B80E50A}" type="datetime1">
              <a:rPr lang="en-US" smtClean="0"/>
              <a:t>10/22/26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C4946"/>
                </a:solidFill>
                <a:latin typeface="Book Antiqua" panose="02040602050305030304"/>
                <a:cs typeface="Book Antiqua" panose="02040602050305030304"/>
              </a:defRPr>
            </a:lvl1pPr>
          </a:lstStyle>
          <a:p>
            <a:pPr marL="25400">
              <a:lnSpc>
                <a:spcPts val="19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D93E2B"/>
                </a:solidFill>
                <a:latin typeface="Garamond" panose="02020404030301010803"/>
                <a:cs typeface="Garamond" panose="02020404030301010803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414141"/>
                </a:solidFill>
                <a:latin typeface="Book Antiqua" panose="02040602050305030304"/>
                <a:cs typeface="Book Antiqua" panose="02040602050305030304"/>
              </a:defRPr>
            </a:lvl1pPr>
          </a:lstStyle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359A3-E613-4B41-B387-CDFD86F12941}" type="datetime1">
              <a:rPr lang="en-US" smtClean="0"/>
              <a:t>10/22/26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C4946"/>
                </a:solidFill>
                <a:latin typeface="Book Antiqua" panose="02040602050305030304"/>
                <a:cs typeface="Book Antiqua" panose="02040602050305030304"/>
              </a:defRPr>
            </a:lvl1pPr>
          </a:lstStyle>
          <a:p>
            <a:pPr marL="25400">
              <a:lnSpc>
                <a:spcPts val="19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D93E2B"/>
                </a:solidFill>
                <a:latin typeface="Garamond" panose="02020404030301010803"/>
                <a:cs typeface="Garamond" panose="02020404030301010803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414141"/>
                </a:solidFill>
                <a:latin typeface="Book Antiqua" panose="02040602050305030304"/>
                <a:cs typeface="Book Antiqua" panose="02040602050305030304"/>
              </a:defRPr>
            </a:lvl1pPr>
          </a:lstStyle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F2D7A-86EA-4590-B1EE-FB313BB1CB63}" type="datetime1">
              <a:rPr lang="en-US" smtClean="0"/>
              <a:t>10/22/26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C4946"/>
                </a:solidFill>
                <a:latin typeface="Book Antiqua" panose="02040602050305030304"/>
                <a:cs typeface="Book Antiqua" panose="02040602050305030304"/>
              </a:defRPr>
            </a:lvl1pPr>
          </a:lstStyle>
          <a:p>
            <a:pPr marL="25400">
              <a:lnSpc>
                <a:spcPts val="19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D93E2B"/>
                </a:solidFill>
                <a:latin typeface="Garamond" panose="02020404030301010803"/>
                <a:cs typeface="Garamond" panose="02020404030301010803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414141"/>
                </a:solidFill>
                <a:latin typeface="Book Antiqua" panose="02040602050305030304"/>
                <a:cs typeface="Book Antiqua" panose="02040602050305030304"/>
              </a:defRPr>
            </a:lvl1pPr>
          </a:lstStyle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06F186-2ED9-4E39-B530-2EC5D8E24131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C4946"/>
                </a:solidFill>
                <a:latin typeface="Book Antiqua" panose="02040602050305030304"/>
                <a:cs typeface="Book Antiqua" panose="02040602050305030304"/>
              </a:defRPr>
            </a:lvl1pPr>
          </a:lstStyle>
          <a:p>
            <a:pPr marL="25400">
              <a:lnSpc>
                <a:spcPts val="19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414141"/>
                </a:solidFill>
                <a:latin typeface="Book Antiqua" panose="02040602050305030304"/>
                <a:cs typeface="Book Antiqua" panose="02040602050305030304"/>
              </a:defRPr>
            </a:lvl1pPr>
          </a:lstStyle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D5CCC-EBF9-4009-ADFA-30BCE2E4C9AC}" type="datetime1">
              <a:rPr lang="en-US" smtClean="0"/>
              <a:t>10/22/26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C4946"/>
                </a:solidFill>
                <a:latin typeface="Book Antiqua" panose="02040602050305030304"/>
                <a:cs typeface="Book Antiqua" panose="02040602050305030304"/>
              </a:defRPr>
            </a:lvl1pPr>
          </a:lstStyle>
          <a:p>
            <a:pPr marL="25400">
              <a:lnSpc>
                <a:spcPts val="19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3720" y="2120900"/>
            <a:ext cx="11897360" cy="2555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defRPr>
            </a:lvl1pPr>
          </a:lstStyle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508000" y="635000"/>
            <a:ext cx="11997690" cy="0"/>
          </a:xfrm>
          <a:custGeom>
            <a:avLst/>
            <a:gdLst/>
            <a:ahLst/>
            <a:cxnLst/>
            <a:rect l="l" t="t" r="r" b="b"/>
            <a:pathLst>
              <a:path w="11997690">
                <a:moveTo>
                  <a:pt x="0" y="0"/>
                </a:moveTo>
                <a:lnTo>
                  <a:pt x="11997291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97630" y="9098056"/>
            <a:ext cx="1008470" cy="6426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18309" y="812800"/>
            <a:ext cx="9568180" cy="1092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rgbClr val="D93E2B"/>
                </a:solidFill>
                <a:latin typeface="Garamond" panose="02020404030301010803"/>
                <a:cs typeface="Garamond" panose="02020404030301010803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36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414141"/>
                </a:solidFill>
                <a:latin typeface="Book Antiqua" panose="02040602050305030304"/>
                <a:cs typeface="Book Antiqua" panose="02040602050305030304"/>
              </a:defRPr>
            </a:lvl1pPr>
          </a:lstStyle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66082-8F6E-41C0-92A5-89FEC2932B50}" type="datetime1">
              <a:rPr lang="en-US" smtClean="0"/>
              <a:t>10/22/26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350000" y="9349618"/>
            <a:ext cx="279400" cy="277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C4946"/>
                </a:solidFill>
                <a:latin typeface="Book Antiqua" panose="02040602050305030304"/>
                <a:cs typeface="Book Antiqua" panose="02040602050305030304"/>
              </a:defRPr>
            </a:lvl1pPr>
          </a:lstStyle>
          <a:p>
            <a:pPr marL="25400">
              <a:lnSpc>
                <a:spcPts val="19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46BB7-9C0E-0E60-A18E-EC3D376C0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8310" y="1943746"/>
            <a:ext cx="9568180" cy="2769989"/>
          </a:xfrm>
        </p:spPr>
        <p:txBody>
          <a:bodyPr/>
          <a:lstStyle/>
          <a:p>
            <a:pPr algn="ctr"/>
            <a:r>
              <a:rPr lang="en-CN" sz="6000" dirty="0"/>
              <a:t>COMP7503 Multimedia Technology</a:t>
            </a:r>
            <a:br>
              <a:rPr lang="en-CN" sz="6000" dirty="0"/>
            </a:br>
            <a:r>
              <a:rPr lang="en-CN" sz="6000" dirty="0"/>
              <a:t>Programming Assignment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0B691D-E1B2-8AF5-7500-8B0CC7847D3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369332"/>
          </a:xfrm>
        </p:spPr>
        <p:txBody>
          <a:bodyPr/>
          <a:lstStyle/>
          <a:p>
            <a:pPr algn="ctr"/>
            <a:r>
              <a:rPr lang="en-CN" sz="2400" dirty="0"/>
              <a:t>2026.10.22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22709-F894-EB00-BBF3-028A82B995D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68ED45-D490-2287-C433-118F327412A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940"/>
              </a:lnSpc>
            </a:pPr>
            <a:fld id="{81D60167-4931-47E6-BA6A-407CBD079E47}" type="slidenum">
              <a:rPr lang="en-CN" smtClean="0"/>
              <a:t>1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094719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BF8EE-EAB3-57EF-8B45-D19B0F4E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Roadmap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82445-C11B-FABF-7E83-5DD6CDFB5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720" y="2120900"/>
            <a:ext cx="11897360" cy="6736011"/>
          </a:xfrm>
        </p:spPr>
        <p:txBody>
          <a:bodyPr/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zh-CN" sz="4500" dirty="0"/>
              <a:t>Project</a:t>
            </a:r>
            <a:r>
              <a:rPr lang="zh-CN" altLang="en-US" sz="4500" dirty="0"/>
              <a:t> </a:t>
            </a:r>
            <a:r>
              <a:rPr lang="en-US" altLang="zh-CN" sz="4500" dirty="0"/>
              <a:t>Overview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zh-CN" sz="4500" dirty="0"/>
              <a:t>Environment</a:t>
            </a:r>
            <a:r>
              <a:rPr lang="zh-CN" altLang="en-US" sz="4500" dirty="0"/>
              <a:t> </a:t>
            </a:r>
            <a:r>
              <a:rPr lang="en-US" altLang="zh-CN" sz="4500" dirty="0"/>
              <a:t>Setup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zh-CN" sz="4500" dirty="0"/>
              <a:t>Docker</a:t>
            </a:r>
            <a:r>
              <a:rPr lang="zh-CN" altLang="en-US" sz="4500" dirty="0"/>
              <a:t> </a:t>
            </a:r>
            <a:r>
              <a:rPr lang="en-US" altLang="zh-CN" sz="4500" dirty="0"/>
              <a:t>Basics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zh-CN" sz="4500" dirty="0"/>
              <a:t>Project-specific</a:t>
            </a:r>
            <a:r>
              <a:rPr lang="zh-CN" altLang="en-US" sz="4500" dirty="0"/>
              <a:t> </a:t>
            </a:r>
            <a:r>
              <a:rPr lang="en-US" altLang="zh-CN" sz="4500" dirty="0"/>
              <a:t>Docker</a:t>
            </a:r>
            <a:r>
              <a:rPr lang="zh-CN" altLang="en-US" sz="4500" dirty="0"/>
              <a:t> </a:t>
            </a:r>
            <a:r>
              <a:rPr lang="en-US" altLang="zh-CN" sz="4500" dirty="0"/>
              <a:t>Configuration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CN" sz="45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94698-D59E-6BF2-20D7-71F64819649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6C4917-0006-2869-F1C5-1041DC0A344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940"/>
              </a:lnSpc>
            </a:pPr>
            <a:fld id="{81D60167-4931-47E6-BA6A-407CBD079E47}" type="slidenum">
              <a:rPr lang="en-CN" smtClean="0"/>
              <a:t>2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16086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7BDD3-F165-2D17-0042-5CB8D7AAC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9F86F-119B-B8C0-4433-01828AAA2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8310" y="3982334"/>
            <a:ext cx="9568180" cy="923330"/>
          </a:xfrm>
        </p:spPr>
        <p:txBody>
          <a:bodyPr/>
          <a:lstStyle/>
          <a:p>
            <a:pPr algn="ctr"/>
            <a:r>
              <a:rPr lang="en-US" altLang="zh-CN" sz="6000" dirty="0"/>
              <a:t>1.</a:t>
            </a:r>
            <a:r>
              <a:rPr lang="zh-CN" altLang="en-US" sz="6000" dirty="0"/>
              <a:t> </a:t>
            </a:r>
            <a:r>
              <a:rPr lang="en-US" altLang="zh-CN" sz="6000" dirty="0"/>
              <a:t>Project</a:t>
            </a:r>
            <a:r>
              <a:rPr lang="zh-CN" altLang="en-US" sz="6000" dirty="0"/>
              <a:t> </a:t>
            </a:r>
            <a:r>
              <a:rPr lang="en-US" altLang="zh-CN" sz="6000" dirty="0"/>
              <a:t>Overview</a:t>
            </a:r>
            <a:endParaRPr lang="en-CN" sz="6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B7A0E-AA08-3DDF-1426-9DA13422A5E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08875-71C4-93C3-DF3A-629AA61BDF0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940"/>
              </a:lnSpc>
            </a:pPr>
            <a:fld id="{81D60167-4931-47E6-BA6A-407CBD079E47}" type="slidenum">
              <a:rPr lang="en-CN" smtClean="0"/>
              <a:t>3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890543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12E32-9D93-F255-9E63-B257937CF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Project</a:t>
            </a:r>
            <a:r>
              <a:rPr lang="zh-CN" altLang="en-US" dirty="0"/>
              <a:t> </a:t>
            </a:r>
            <a:r>
              <a:rPr lang="en-US" altLang="zh-CN" dirty="0"/>
              <a:t>Overview</a:t>
            </a:r>
            <a:endParaRPr lang="en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97A3FB-EBC0-F570-F074-FEBF8F87AE2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DC626-BC24-5251-F7AE-D510BBF50E6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940"/>
              </a:lnSpc>
            </a:pPr>
            <a:fld id="{81D60167-4931-47E6-BA6A-407CBD079E47}" type="slidenum">
              <a:rPr lang="en-CN" smtClean="0"/>
              <a:t>4</a:t>
            </a:fld>
            <a:endParaRPr lang="en-C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84EE2B-D32B-E203-6FE9-C71A0F873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55" y="2575829"/>
            <a:ext cx="11428290" cy="636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000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B3D84-BE0B-7E34-B857-F90DEF14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Project</a:t>
            </a:r>
            <a:r>
              <a:rPr lang="zh-CN" altLang="en-US" dirty="0"/>
              <a:t> </a:t>
            </a:r>
            <a:r>
              <a:rPr lang="en-US" altLang="zh-CN" dirty="0"/>
              <a:t>Overview</a:t>
            </a:r>
            <a:endParaRPr lang="en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0F975D-61FC-4810-F78F-68F2BC60F3C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E2912-6478-441A-54FA-309011B825B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940"/>
              </a:lnSpc>
            </a:pPr>
            <a:fld id="{81D60167-4931-47E6-BA6A-407CBD079E47}" type="slidenum">
              <a:rPr lang="en-CN" smtClean="0"/>
              <a:t>5</a:t>
            </a:fld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E8D427-23BF-4BC7-4509-D44EB9079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129" y="1920240"/>
            <a:ext cx="9829800" cy="656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180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FA4F4-AA31-2145-007A-4C63702C8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A7926-FBC1-5856-6C76-A74F034BE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8310" y="3982334"/>
            <a:ext cx="9568180" cy="923330"/>
          </a:xfrm>
        </p:spPr>
        <p:txBody>
          <a:bodyPr/>
          <a:lstStyle/>
          <a:p>
            <a:pPr algn="ctr"/>
            <a:r>
              <a:rPr lang="en-US" altLang="zh-CN" sz="6000" dirty="0"/>
              <a:t>2.</a:t>
            </a:r>
            <a:r>
              <a:rPr lang="zh-CN" altLang="en-US" sz="6000" dirty="0"/>
              <a:t> </a:t>
            </a:r>
            <a:r>
              <a:rPr lang="en-US" altLang="zh-CN" sz="6000" dirty="0"/>
              <a:t>Environment</a:t>
            </a:r>
            <a:r>
              <a:rPr lang="zh-CN" altLang="en-US" sz="6000" dirty="0"/>
              <a:t> </a:t>
            </a:r>
            <a:r>
              <a:rPr lang="en-US" altLang="zh-CN" sz="6000" dirty="0"/>
              <a:t>Setup</a:t>
            </a:r>
            <a:endParaRPr lang="en-CN" sz="6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7362A-B4A0-3B26-7EC9-BF3839FB06D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5070A7-482A-E367-8767-75F444BE758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940"/>
              </a:lnSpc>
            </a:pPr>
            <a:fld id="{81D60167-4931-47E6-BA6A-407CBD079E47}" type="slidenum">
              <a:rPr lang="en-CN" smtClean="0"/>
              <a:t>6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412759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5003B-B44A-CBBE-9474-32317585A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Environment</a:t>
            </a:r>
            <a:r>
              <a:rPr lang="zh-CN" altLang="en-US" dirty="0"/>
              <a:t> </a:t>
            </a:r>
            <a:r>
              <a:rPr lang="en-US" altLang="zh-CN" dirty="0"/>
              <a:t>Setup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9973B-0479-1869-65EE-6717B81D9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720" y="2120900"/>
            <a:ext cx="11897360" cy="492442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4000" dirty="0"/>
              <a:t>Linux/MacOS:</a:t>
            </a:r>
            <a:r>
              <a:rPr lang="zh-CN" altLang="en-US" sz="4000" dirty="0"/>
              <a:t> </a:t>
            </a:r>
            <a:r>
              <a:rPr lang="en-US" altLang="zh-CN" sz="4000" dirty="0"/>
              <a:t>√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Windows</a:t>
            </a:r>
            <a:r>
              <a:rPr lang="en-US" altLang="zh-CN" sz="4000" dirty="0"/>
              <a:t>:</a:t>
            </a:r>
            <a:r>
              <a:rPr lang="zh-CN" altLang="en-US" sz="4000" dirty="0"/>
              <a:t> </a:t>
            </a:r>
            <a:r>
              <a:rPr lang="en-US" altLang="zh-CN" sz="4000" dirty="0"/>
              <a:t>×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4000" dirty="0"/>
              <a:t>WSL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4000" dirty="0"/>
              <a:t>Remote</a:t>
            </a:r>
            <a:r>
              <a:rPr lang="zh-CN" altLang="en-US" sz="4000" dirty="0"/>
              <a:t> </a:t>
            </a:r>
            <a:r>
              <a:rPr lang="en-US" altLang="zh-CN" sz="4000" dirty="0"/>
              <a:t>Linux</a:t>
            </a:r>
            <a:r>
              <a:rPr lang="zh-CN" altLang="en-US" sz="4000" dirty="0"/>
              <a:t> </a:t>
            </a:r>
            <a:r>
              <a:rPr lang="en-US" altLang="zh-CN" sz="4000" dirty="0"/>
              <a:t>Server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4000" dirty="0"/>
              <a:t>Virtual</a:t>
            </a:r>
            <a:r>
              <a:rPr lang="zh-CN" altLang="en-US" sz="4000" dirty="0"/>
              <a:t> </a:t>
            </a:r>
            <a:r>
              <a:rPr lang="en-US" altLang="zh-CN" sz="4000" dirty="0"/>
              <a:t>Machine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4000" dirty="0"/>
              <a:t>Dual</a:t>
            </a:r>
            <a:r>
              <a:rPr lang="zh-CN" altLang="en-US" sz="4000" dirty="0"/>
              <a:t> </a:t>
            </a:r>
            <a:r>
              <a:rPr lang="en-US" altLang="zh-CN" sz="4000" dirty="0"/>
              <a:t>Boot</a:t>
            </a:r>
            <a:endParaRPr lang="en-CN" sz="4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7F332B-2B93-473F-8C25-354E530C321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3FEE6-D31A-CCA7-F4EF-1E90071B106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940"/>
              </a:lnSpc>
            </a:pPr>
            <a:fld id="{81D60167-4931-47E6-BA6A-407CBD079E47}" type="slidenum">
              <a:rPr lang="en-CN" smtClean="0"/>
              <a:t>7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253622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3F159-5608-C41B-0312-4AA943C9D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E242-4F7C-B9F4-EAFA-ED264DA0B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8310" y="3982334"/>
            <a:ext cx="9568180" cy="923330"/>
          </a:xfrm>
        </p:spPr>
        <p:txBody>
          <a:bodyPr/>
          <a:lstStyle/>
          <a:p>
            <a:pPr algn="ctr"/>
            <a:r>
              <a:rPr lang="en-US" altLang="zh-CN" sz="6000" dirty="0"/>
              <a:t>3.</a:t>
            </a:r>
            <a:r>
              <a:rPr lang="zh-CN" altLang="en-US" sz="6000" dirty="0"/>
              <a:t> </a:t>
            </a:r>
            <a:r>
              <a:rPr lang="en-US" altLang="zh-CN" sz="6000" dirty="0"/>
              <a:t>Docker</a:t>
            </a:r>
            <a:r>
              <a:rPr lang="zh-CN" altLang="en-US" sz="6000" dirty="0"/>
              <a:t> </a:t>
            </a:r>
            <a:r>
              <a:rPr lang="en-US" altLang="zh-CN" sz="6000" dirty="0"/>
              <a:t>Basics</a:t>
            </a:r>
            <a:endParaRPr lang="en-CN" sz="6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C41E44-EF0F-DE56-ECC3-3FA7EF0D6CD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FB568C-245D-9A0D-4604-35024CA98DA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940"/>
              </a:lnSpc>
            </a:pPr>
            <a:fld id="{81D60167-4931-47E6-BA6A-407CBD079E47}" type="slidenum">
              <a:rPr lang="en-CN" smtClean="0"/>
              <a:t>8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667054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7696" y="812800"/>
            <a:ext cx="12397104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lang="en-US" spc="30" dirty="0"/>
              <a:t>Docker</a:t>
            </a:r>
            <a:r>
              <a:rPr lang="zh-CN" altLang="en-US" spc="30" dirty="0"/>
              <a:t> </a:t>
            </a:r>
            <a:r>
              <a:rPr lang="en-US" spc="30" dirty="0"/>
              <a:t>for Linux: Setting Up</a:t>
            </a:r>
            <a:endParaRPr lang="en-US" spc="-85" dirty="0"/>
          </a:p>
        </p:txBody>
      </p:sp>
      <p:sp>
        <p:nvSpPr>
          <p:cNvPr id="3" name="object 3"/>
          <p:cNvSpPr txBox="1"/>
          <p:nvPr/>
        </p:nvSpPr>
        <p:spPr>
          <a:xfrm>
            <a:off x="607696" y="2514600"/>
            <a:ext cx="222250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sz="1750" dirty="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2350" y="2438400"/>
            <a:ext cx="11195050" cy="500072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n-US" sz="2900" b="1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Introduction</a:t>
            </a: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endParaRPr lang="en-US" sz="2900" spc="10" dirty="0">
              <a:solidFill>
                <a:srgbClr val="212121"/>
              </a:solidFill>
              <a:latin typeface="Book Antiqua" panose="02040602050305030304"/>
              <a:cs typeface="Book Antiqua" panose="02040602050305030304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endParaRPr lang="en-US" sz="2900" spc="10" dirty="0">
              <a:solidFill>
                <a:srgbClr val="212121"/>
              </a:solidFill>
              <a:latin typeface="Book Antiqua" panose="02040602050305030304"/>
              <a:cs typeface="Book Antiqua" panose="02040602050305030304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n-US" sz="2900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This tutorial is designed to help you to leverage </a:t>
            </a:r>
            <a:r>
              <a:rPr lang="en-US" sz="2900" b="1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Docker</a:t>
            </a:r>
            <a:r>
              <a:rPr lang="en-US" sz="2900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, a powerful platform for developing, shipping, and running applications. Docker simplifies the management of application processes in containers, which are isolated from each other and the host system. </a:t>
            </a: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endParaRPr lang="en-US" sz="2900" spc="10" dirty="0">
              <a:solidFill>
                <a:srgbClr val="212121"/>
              </a:solidFill>
              <a:latin typeface="Book Antiqua" panose="02040602050305030304"/>
              <a:cs typeface="Book Antiqua" panose="02040602050305030304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endParaRPr lang="en-US" sz="2900" spc="10" dirty="0">
              <a:solidFill>
                <a:srgbClr val="212121"/>
              </a:solidFill>
              <a:latin typeface="Book Antiqua" panose="02040602050305030304"/>
              <a:cs typeface="Book Antiqua" panose="02040602050305030304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n-US" sz="2900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Before diving into the setup of </a:t>
            </a:r>
            <a:r>
              <a:rPr lang="en-US" sz="2900" b="1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MongoDB</a:t>
            </a:r>
            <a:r>
              <a:rPr lang="en-US" sz="2900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and </a:t>
            </a:r>
            <a:r>
              <a:rPr lang="en-US" sz="2900" b="1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Node-RED</a:t>
            </a:r>
            <a:r>
              <a:rPr lang="en-US" sz="2900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, let's cover the basics of a Docker container.</a:t>
            </a:r>
            <a:endParaRPr sz="2900" dirty="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dirty="0"/>
              <a:t>2</a:t>
            </a:r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52C900A8-B50B-2775-54B0-7237260C1BE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B9A8F06-90B9-018F-9A09-035F01553EB2}"/>
              </a:ext>
            </a:extLst>
          </p:cNvPr>
          <p:cNvSpPr txBox="1"/>
          <p:nvPr/>
        </p:nvSpPr>
        <p:spPr>
          <a:xfrm>
            <a:off x="1022350" y="7993038"/>
            <a:ext cx="11195050" cy="1297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pc="10" dirty="0">
                <a:solidFill>
                  <a:schemeClr val="tx1">
                    <a:lumMod val="50000"/>
                    <a:lumOff val="50000"/>
                  </a:schemeClr>
                </a:solidFill>
                <a:latin typeface="Book Antiqua" panose="02040602050305030304"/>
              </a:rPr>
              <a:t>This guidance is applicable only to </a:t>
            </a:r>
            <a:r>
              <a:rPr lang="zh-CN" altLang="en-US" b="1" spc="10" dirty="0">
                <a:solidFill>
                  <a:schemeClr val="tx1">
                    <a:lumMod val="50000"/>
                    <a:lumOff val="50000"/>
                  </a:schemeClr>
                </a:solidFill>
                <a:latin typeface="Book Antiqua" panose="02040602050305030304"/>
              </a:rPr>
              <a:t>Ubuntu</a:t>
            </a:r>
            <a:r>
              <a:rPr lang="zh-CN" altLang="en-US" spc="10" dirty="0">
                <a:solidFill>
                  <a:schemeClr val="tx1">
                    <a:lumMod val="50000"/>
                    <a:lumOff val="50000"/>
                  </a:schemeClr>
                </a:solidFill>
                <a:latin typeface="Book Antiqua" panose="02040602050305030304"/>
              </a:rPr>
              <a:t> and </a:t>
            </a:r>
            <a:r>
              <a:rPr lang="zh-CN" altLang="en-US" b="1" spc="10" dirty="0">
                <a:solidFill>
                  <a:schemeClr val="tx1">
                    <a:lumMod val="50000"/>
                    <a:lumOff val="50000"/>
                  </a:schemeClr>
                </a:solidFill>
                <a:latin typeface="Book Antiqua" panose="02040602050305030304"/>
              </a:rPr>
              <a:t>macOS</a:t>
            </a:r>
            <a:r>
              <a:rPr lang="zh-CN" altLang="en-US" spc="10" dirty="0">
                <a:solidFill>
                  <a:schemeClr val="tx1">
                    <a:lumMod val="50000"/>
                    <a:lumOff val="50000"/>
                  </a:schemeClr>
                </a:solidFill>
                <a:latin typeface="Book Antiqua" panose="02040602050305030304"/>
              </a:rPr>
              <a:t>; adjustments may be necessary for Windows. Additionally, if using a virtual machine for MongoDB, the CPU may need to support hardware virtualization.</a:t>
            </a:r>
          </a:p>
        </p:txBody>
      </p:sp>
    </p:spTree>
    <p:extLst>
      <p:ext uri="{BB962C8B-B14F-4D97-AF65-F5344CB8AC3E}">
        <p14:creationId xmlns:p14="http://schemas.microsoft.com/office/powerpoint/2010/main" val="3363780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1C982-15C8-12C4-43AC-63E2A67B8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Docker</a:t>
            </a:r>
            <a:r>
              <a:rPr lang="zh-CN" altLang="en-US" dirty="0"/>
              <a:t> </a:t>
            </a:r>
            <a:r>
              <a:rPr lang="en-US" altLang="zh-CN" dirty="0"/>
              <a:t>Basics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04347-F77C-D820-6693-9B8494B77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720" y="2120900"/>
            <a:ext cx="11897360" cy="6771084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CN" sz="4000" dirty="0">
                <a:latin typeface="Book Antiqua" panose="02040602050305030304" pitchFamily="18" charset="0"/>
              </a:rPr>
              <a:t>Open</a:t>
            </a:r>
            <a:r>
              <a:rPr lang="en-US" altLang="zh-CN" sz="4000" dirty="0">
                <a:latin typeface="Book Antiqua" panose="02040602050305030304" pitchFamily="18" charset="0"/>
              </a:rPr>
              <a:t>-source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container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platform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altLang="zh-CN" sz="4000" dirty="0">
                <a:latin typeface="Book Antiqua" panose="02040602050305030304" pitchFamily="18" charset="0"/>
              </a:rPr>
              <a:t>Applications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+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Dependencies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-&gt;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portable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images</a:t>
            </a:r>
            <a:endParaRPr lang="en-US" sz="4000" dirty="0">
              <a:latin typeface="Book Antiqua" panose="0204060205030503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4000" b="1" dirty="0">
                <a:latin typeface="Book Antiqua" panose="02040602050305030304" pitchFamily="18" charset="0"/>
              </a:rPr>
              <a:t>Images:</a:t>
            </a:r>
            <a:r>
              <a:rPr lang="zh-CN" altLang="en-US" sz="4000" b="1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read-only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template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containing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dependencies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to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run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an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application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4000" b="1" dirty="0">
                <a:latin typeface="Book Antiqua" panose="02040602050305030304" pitchFamily="18" charset="0"/>
              </a:rPr>
              <a:t>Containers</a:t>
            </a:r>
            <a:r>
              <a:rPr lang="en-US" altLang="zh-CN" sz="4000" dirty="0">
                <a:latin typeface="Book Antiqua" panose="02040602050305030304" pitchFamily="18" charset="0"/>
              </a:rPr>
              <a:t>: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runnable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images’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instances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altLang="zh-CN" sz="4000" dirty="0">
                <a:latin typeface="Book Antiqua" panose="02040602050305030304" pitchFamily="18" charset="0"/>
              </a:rPr>
              <a:t>Isolated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from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one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another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altLang="zh-CN" sz="4000" dirty="0">
                <a:latin typeface="Book Antiqua" panose="02040602050305030304" pitchFamily="18" charset="0"/>
              </a:rPr>
              <a:t>shares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host’s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kernel</a:t>
            </a:r>
            <a:endParaRPr lang="en-CN" sz="4000" dirty="0">
              <a:latin typeface="Book Antiqua" panose="0204060205030503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N" sz="4000" dirty="0">
                <a:latin typeface="Book Antiqua" panose="02040602050305030304" pitchFamily="18" charset="0"/>
              </a:rPr>
              <a:t>Standardized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SW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delivery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altLang="zh-CN" sz="4000" dirty="0">
                <a:latin typeface="Book Antiqua" panose="02040602050305030304" pitchFamily="18" charset="0"/>
              </a:rPr>
              <a:t>Code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behaves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identically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across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laptops/CI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pipelines/production</a:t>
            </a:r>
            <a:r>
              <a:rPr lang="zh-CN" altLang="en-US" sz="4000" dirty="0">
                <a:latin typeface="Book Antiqua" panose="02040602050305030304" pitchFamily="18" charset="0"/>
              </a:rPr>
              <a:t> </a:t>
            </a:r>
            <a:r>
              <a:rPr lang="en-US" altLang="zh-CN" sz="4000" dirty="0">
                <a:latin typeface="Book Antiqua" panose="02040602050305030304" pitchFamily="18" charset="0"/>
              </a:rPr>
              <a:t>clouds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198277-8F1A-75EE-A579-F7441EF8FD7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A90F12-CDD1-CD9F-AFA7-047D5DC464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940"/>
              </a:lnSpc>
            </a:pPr>
            <a:fld id="{81D60167-4931-47E6-BA6A-407CBD079E47}" type="slidenum">
              <a:rPr lang="en-CN" smtClean="0"/>
              <a:t>10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073726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500" y="826769"/>
            <a:ext cx="11857990" cy="1060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800" spc="-285" dirty="0"/>
              <a:t>Create </a:t>
            </a:r>
            <a:r>
              <a:rPr sz="6800" spc="-550" dirty="0"/>
              <a:t>and </a:t>
            </a:r>
            <a:r>
              <a:rPr sz="6800" spc="-455" dirty="0"/>
              <a:t>activate </a:t>
            </a:r>
            <a:r>
              <a:rPr lang="en-US" altLang="zh-CN" sz="6800" spc="-550" dirty="0"/>
              <a:t>a</a:t>
            </a:r>
            <a:r>
              <a:rPr lang="zh-CN" altLang="en-US" sz="6800" spc="-550" dirty="0"/>
              <a:t> </a:t>
            </a:r>
            <a:r>
              <a:rPr lang="en-US" altLang="zh-CN" sz="6800" spc="-550" dirty="0"/>
              <a:t>docker </a:t>
            </a:r>
            <a:r>
              <a:rPr sz="6800" spc="-320" dirty="0"/>
              <a:t>Account</a:t>
            </a:r>
            <a:endParaRPr sz="6800" dirty="0"/>
          </a:p>
        </p:txBody>
      </p:sp>
      <p:sp>
        <p:nvSpPr>
          <p:cNvPr id="3" name="object 3"/>
          <p:cNvSpPr txBox="1"/>
          <p:nvPr/>
        </p:nvSpPr>
        <p:spPr>
          <a:xfrm>
            <a:off x="546100" y="2514600"/>
            <a:ext cx="1657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sz="1400" dirty="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0900" y="2489200"/>
            <a:ext cx="1081849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000"/>
              </a:lnSpc>
              <a:spcBef>
                <a:spcPts val="100"/>
              </a:spcBef>
            </a:pPr>
            <a:r>
              <a:rPr lang="en-US" altLang="zh-CN" sz="2350" spc="-10" dirty="0">
                <a:solidFill>
                  <a:srgbClr val="212121"/>
                </a:solidFill>
                <a:latin typeface="Book Antiqua"/>
                <a:cs typeface="Book Antiqua"/>
              </a:rPr>
              <a:t>Docker</a:t>
            </a:r>
            <a:r>
              <a:rPr lang="zh-CN" altLang="en-US" sz="2350" spc="-10" dirty="0">
                <a:solidFill>
                  <a:srgbClr val="212121"/>
                </a:solidFill>
                <a:latin typeface="Book Antiqua"/>
                <a:cs typeface="Book Antiqua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Book Antiqua"/>
                <a:cs typeface="Book Antiqua"/>
              </a:rPr>
              <a:t>home page </a:t>
            </a:r>
            <a:r>
              <a:rPr sz="2350" spc="-5" dirty="0">
                <a:solidFill>
                  <a:srgbClr val="212121"/>
                </a:solidFill>
                <a:latin typeface="Book Antiqua"/>
                <a:cs typeface="Book Antiqua"/>
              </a:rPr>
              <a:t>at </a:t>
            </a:r>
            <a:r>
              <a:rPr lang="en-US" sz="2350" b="1" spc="-10" dirty="0">
                <a:solidFill>
                  <a:srgbClr val="212121"/>
                </a:solidFill>
                <a:latin typeface="Book Antiqua"/>
                <a:cs typeface="Book Antiqua"/>
              </a:rPr>
              <a:t>https://</a:t>
            </a:r>
            <a:r>
              <a:rPr lang="en-US" sz="2350" b="1" spc="-10" dirty="0" err="1">
                <a:solidFill>
                  <a:srgbClr val="212121"/>
                </a:solidFill>
                <a:latin typeface="Book Antiqua"/>
                <a:cs typeface="Book Antiqua"/>
              </a:rPr>
              <a:t>www.docker.com</a:t>
            </a:r>
            <a:r>
              <a:rPr sz="2350" spc="-5" dirty="0">
                <a:solidFill>
                  <a:srgbClr val="212121"/>
                </a:solidFill>
                <a:latin typeface="Book Antiqua"/>
                <a:cs typeface="Book Antiqua"/>
              </a:rPr>
              <a:t>.</a:t>
            </a:r>
            <a:endParaRPr sz="2350" dirty="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6100" y="6085205"/>
            <a:ext cx="1657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sz="1400" dirty="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dirty="0"/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50900" y="6002153"/>
            <a:ext cx="6622766" cy="30656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000"/>
              </a:lnSpc>
              <a:spcBef>
                <a:spcPts val="100"/>
              </a:spcBef>
            </a:pPr>
            <a:r>
              <a:rPr sz="2350" spc="-10" dirty="0">
                <a:solidFill>
                  <a:srgbClr val="212121"/>
                </a:solidFill>
                <a:latin typeface="Book Antiqua"/>
                <a:cs typeface="Book Antiqua"/>
              </a:rPr>
              <a:t>On the </a:t>
            </a:r>
            <a:r>
              <a:rPr sz="2350" spc="-15" dirty="0">
                <a:solidFill>
                  <a:srgbClr val="212121"/>
                </a:solidFill>
                <a:latin typeface="Book Antiqua"/>
                <a:cs typeface="Book Antiqua"/>
              </a:rPr>
              <a:t>Create </a:t>
            </a:r>
            <a:r>
              <a:rPr sz="2350" spc="-10" dirty="0">
                <a:solidFill>
                  <a:srgbClr val="212121"/>
                </a:solidFill>
                <a:latin typeface="Book Antiqua"/>
                <a:cs typeface="Book Antiqua"/>
              </a:rPr>
              <a:t>an </a:t>
            </a:r>
            <a:r>
              <a:rPr lang="en-US" sz="2350" spc="-70" dirty="0">
                <a:solidFill>
                  <a:srgbClr val="212121"/>
                </a:solidFill>
                <a:latin typeface="Book Antiqua"/>
                <a:cs typeface="Book Antiqua"/>
              </a:rPr>
              <a:t>docker</a:t>
            </a:r>
            <a:r>
              <a:rPr sz="2350" spc="-70" dirty="0">
                <a:solidFill>
                  <a:srgbClr val="212121"/>
                </a:solidFill>
                <a:latin typeface="Book Antiqua"/>
                <a:cs typeface="Book Antiqua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Book Antiqua"/>
                <a:cs typeface="Book Antiqua"/>
              </a:rPr>
              <a:t>account </a:t>
            </a:r>
            <a:r>
              <a:rPr sz="2350" spc="-5" dirty="0">
                <a:solidFill>
                  <a:srgbClr val="212121"/>
                </a:solidFill>
                <a:latin typeface="Book Antiqua"/>
                <a:cs typeface="Book Antiqua"/>
              </a:rPr>
              <a:t>page</a:t>
            </a:r>
            <a:r>
              <a:rPr lang="en-US" sz="2350" spc="-5" dirty="0">
                <a:solidFill>
                  <a:srgbClr val="212121"/>
                </a:solidFill>
                <a:latin typeface="Book Antiqua"/>
                <a:cs typeface="Book Antiqua"/>
              </a:rPr>
              <a:t> </a:t>
            </a:r>
            <a:r>
              <a:rPr lang="en-US" sz="2350" b="1" spc="-5" dirty="0">
                <a:solidFill>
                  <a:srgbClr val="212121"/>
                </a:solidFill>
                <a:latin typeface="Book Antiqua"/>
                <a:cs typeface="Book Antiqua"/>
              </a:rPr>
              <a:t>https://</a:t>
            </a:r>
            <a:r>
              <a:rPr lang="en-US" sz="2350" b="1" spc="-5" dirty="0" err="1">
                <a:solidFill>
                  <a:srgbClr val="212121"/>
                </a:solidFill>
                <a:latin typeface="Book Antiqua"/>
                <a:cs typeface="Book Antiqua"/>
              </a:rPr>
              <a:t>hub.docker.com</a:t>
            </a:r>
            <a:r>
              <a:rPr lang="en-US" sz="2350" b="1" spc="-5" dirty="0">
                <a:solidFill>
                  <a:srgbClr val="212121"/>
                </a:solidFill>
                <a:latin typeface="Book Antiqua"/>
                <a:cs typeface="Book Antiqua"/>
              </a:rPr>
              <a:t>/signup</a:t>
            </a:r>
            <a:r>
              <a:rPr sz="2350" spc="-5" dirty="0">
                <a:solidFill>
                  <a:srgbClr val="212121"/>
                </a:solidFill>
                <a:latin typeface="Book Antiqua"/>
                <a:cs typeface="Book Antiqua"/>
              </a:rPr>
              <a:t>, enter </a:t>
            </a:r>
            <a:r>
              <a:rPr sz="2350" spc="-10" dirty="0">
                <a:solidFill>
                  <a:srgbClr val="212121"/>
                </a:solidFill>
                <a:latin typeface="Book Antiqua"/>
                <a:cs typeface="Book Antiqua"/>
              </a:rPr>
              <a:t>your HKU email </a:t>
            </a:r>
            <a:r>
              <a:rPr sz="2350" spc="-15" dirty="0">
                <a:solidFill>
                  <a:srgbClr val="212121"/>
                </a:solidFill>
                <a:latin typeface="Book Antiqua"/>
                <a:cs typeface="Book Antiqua"/>
              </a:rPr>
              <a:t>address </a:t>
            </a:r>
            <a:r>
              <a:rPr sz="2350" spc="-10" dirty="0">
                <a:solidFill>
                  <a:srgbClr val="212121"/>
                </a:solidFill>
                <a:latin typeface="Book Antiqua"/>
                <a:cs typeface="Book Antiqua"/>
              </a:rPr>
              <a:t>(educators/  teaching </a:t>
            </a:r>
            <a:r>
              <a:rPr sz="2350" spc="-15" dirty="0">
                <a:solidFill>
                  <a:srgbClr val="212121"/>
                </a:solidFill>
                <a:latin typeface="Book Antiqua"/>
                <a:cs typeface="Book Antiqua"/>
              </a:rPr>
              <a:t>staff: </a:t>
            </a:r>
            <a:r>
              <a:rPr sz="2350" spc="-10" dirty="0">
                <a:solidFill>
                  <a:srgbClr val="212121"/>
                </a:solidFill>
                <a:latin typeface="Book Antiqua"/>
                <a:cs typeface="Book Antiqua"/>
              </a:rPr>
              <a:t>UID@hku.hk; students:  UID@connect.hku.hk), </a:t>
            </a:r>
            <a:r>
              <a:rPr sz="2350" spc="-15" dirty="0">
                <a:solidFill>
                  <a:srgbClr val="212121"/>
                </a:solidFill>
                <a:latin typeface="Book Antiqua"/>
                <a:cs typeface="Book Antiqua"/>
              </a:rPr>
              <a:t>password </a:t>
            </a:r>
            <a:r>
              <a:rPr sz="2350" spc="-5" dirty="0">
                <a:solidFill>
                  <a:srgbClr val="212121"/>
                </a:solidFill>
                <a:latin typeface="Book Antiqua"/>
                <a:cs typeface="Book Antiqua"/>
              </a:rPr>
              <a:t>(a </a:t>
            </a:r>
            <a:r>
              <a:rPr sz="2350" spc="-15" dirty="0">
                <a:solidFill>
                  <a:srgbClr val="212121"/>
                </a:solidFill>
                <a:latin typeface="Book Antiqua"/>
                <a:cs typeface="Book Antiqua"/>
              </a:rPr>
              <a:t>new</a:t>
            </a:r>
            <a:r>
              <a:rPr lang="en-US" sz="2350" spc="-15" dirty="0">
                <a:solidFill>
                  <a:srgbClr val="212121"/>
                </a:solidFill>
                <a:latin typeface="Book Antiqua"/>
                <a:cs typeface="Book Antiqua"/>
              </a:rPr>
              <a:t> </a:t>
            </a:r>
            <a:r>
              <a:rPr sz="2350" spc="-15" dirty="0">
                <a:solidFill>
                  <a:srgbClr val="212121"/>
                </a:solidFill>
                <a:latin typeface="Book Antiqua"/>
                <a:cs typeface="Book Antiqua"/>
              </a:rPr>
              <a:t>password </a:t>
            </a:r>
            <a:r>
              <a:rPr sz="2350" spc="-5" dirty="0">
                <a:solidFill>
                  <a:srgbClr val="212121"/>
                </a:solidFill>
                <a:latin typeface="Book Antiqua"/>
                <a:cs typeface="Book Antiqua"/>
              </a:rPr>
              <a:t>at </a:t>
            </a:r>
            <a:r>
              <a:rPr sz="2350" spc="-10" dirty="0">
                <a:solidFill>
                  <a:srgbClr val="212121"/>
                </a:solidFill>
                <a:latin typeface="Book Antiqua"/>
                <a:cs typeface="Book Antiqua"/>
              </a:rPr>
              <a:t>your choice for login </a:t>
            </a:r>
            <a:r>
              <a:rPr sz="2350" spc="-5" dirty="0">
                <a:solidFill>
                  <a:srgbClr val="212121"/>
                </a:solidFill>
                <a:latin typeface="Book Antiqua"/>
                <a:cs typeface="Book Antiqua"/>
              </a:rPr>
              <a:t>to </a:t>
            </a:r>
            <a:r>
              <a:rPr lang="en-US" sz="2350" spc="-55" dirty="0">
                <a:solidFill>
                  <a:srgbClr val="212121"/>
                </a:solidFill>
                <a:latin typeface="Book Antiqua"/>
                <a:cs typeface="Book Antiqua"/>
              </a:rPr>
              <a:t>docker</a:t>
            </a:r>
            <a:r>
              <a:rPr sz="2350" spc="-55" dirty="0">
                <a:solidFill>
                  <a:srgbClr val="212121"/>
                </a:solidFill>
                <a:latin typeface="Book Antiqua"/>
                <a:cs typeface="Book Antiqua"/>
              </a:rPr>
              <a:t>)  </a:t>
            </a:r>
            <a:r>
              <a:rPr sz="2350" spc="-10" dirty="0">
                <a:solidFill>
                  <a:srgbClr val="212121"/>
                </a:solidFill>
                <a:latin typeface="Book Antiqua"/>
                <a:cs typeface="Book Antiqua"/>
              </a:rPr>
              <a:t>and account name (please put in your</a:t>
            </a:r>
            <a:r>
              <a:rPr lang="en-US" sz="2350" spc="-10" dirty="0">
                <a:solidFill>
                  <a:srgbClr val="212121"/>
                </a:solidFill>
                <a:latin typeface="Book Antiqua"/>
                <a:cs typeface="Book Antiqua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Book Antiqua"/>
                <a:cs typeface="Book Antiqua"/>
              </a:rPr>
              <a:t>Portal UID unless </a:t>
            </a:r>
            <a:r>
              <a:rPr sz="2350" spc="-5" dirty="0">
                <a:solidFill>
                  <a:srgbClr val="212121"/>
                </a:solidFill>
                <a:latin typeface="Book Antiqua"/>
                <a:cs typeface="Book Antiqua"/>
              </a:rPr>
              <a:t>it </a:t>
            </a:r>
            <a:r>
              <a:rPr sz="2350" spc="-10" dirty="0">
                <a:solidFill>
                  <a:srgbClr val="212121"/>
                </a:solidFill>
                <a:latin typeface="Book Antiqua"/>
                <a:cs typeface="Book Antiqua"/>
              </a:rPr>
              <a:t>has been </a:t>
            </a:r>
            <a:r>
              <a:rPr sz="2350" spc="-5" dirty="0">
                <a:solidFill>
                  <a:srgbClr val="212121"/>
                </a:solidFill>
                <a:latin typeface="Book Antiqua"/>
                <a:cs typeface="Book Antiqua"/>
              </a:rPr>
              <a:t>taken </a:t>
            </a:r>
            <a:r>
              <a:rPr sz="2350" spc="-10" dirty="0">
                <a:solidFill>
                  <a:srgbClr val="212121"/>
                </a:solidFill>
                <a:latin typeface="Book Antiqua"/>
                <a:cs typeface="Book Antiqua"/>
              </a:rPr>
              <a:t>up by  others), and then click</a:t>
            </a:r>
            <a:r>
              <a:rPr sz="2350" spc="10" dirty="0">
                <a:solidFill>
                  <a:srgbClr val="212121"/>
                </a:solidFill>
                <a:latin typeface="Book Antiqua"/>
                <a:cs typeface="Book Antiqua"/>
              </a:rPr>
              <a:t> </a:t>
            </a:r>
            <a:r>
              <a:rPr lang="en-US" sz="2350" spc="-10" dirty="0">
                <a:solidFill>
                  <a:srgbClr val="212121"/>
                </a:solidFill>
                <a:latin typeface="Book Antiqua"/>
                <a:cs typeface="Book Antiqua"/>
              </a:rPr>
              <a:t>Sign up</a:t>
            </a:r>
            <a:r>
              <a:rPr sz="2350" spc="-10" dirty="0">
                <a:solidFill>
                  <a:srgbClr val="212121"/>
                </a:solidFill>
                <a:latin typeface="Book Antiqua"/>
                <a:cs typeface="Book Antiqua"/>
              </a:rPr>
              <a:t>.</a:t>
            </a:r>
            <a:endParaRPr sz="2350" dirty="0">
              <a:latin typeface="Book Antiqua"/>
              <a:cs typeface="Book Antiqu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61FD42-84FB-1C46-AA81-37860302B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0" y="3058696"/>
            <a:ext cx="6622766" cy="273250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D03868A-C58F-DD33-950E-999E1AA8B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204" y="2903310"/>
            <a:ext cx="4339286" cy="61668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1979070D-C50B-BD88-A54D-0CC4D411A86E}"/>
              </a:ext>
            </a:extLst>
          </p:cNvPr>
          <p:cNvGrpSpPr/>
          <p:nvPr/>
        </p:nvGrpSpPr>
        <p:grpSpPr>
          <a:xfrm>
            <a:off x="1092200" y="4754116"/>
            <a:ext cx="10744200" cy="1090042"/>
            <a:chOff x="1092200" y="4277780"/>
            <a:chExt cx="10744200" cy="1090042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067D7664-56AF-1090-387D-228A9E2C5033}"/>
                </a:ext>
              </a:extLst>
            </p:cNvPr>
            <p:cNvGrpSpPr/>
            <p:nvPr/>
          </p:nvGrpSpPr>
          <p:grpSpPr>
            <a:xfrm>
              <a:off x="1092200" y="4277780"/>
              <a:ext cx="10744200" cy="1090042"/>
              <a:chOff x="1092200" y="4495800"/>
              <a:chExt cx="8763000" cy="1371600"/>
            </a:xfrm>
          </p:grpSpPr>
          <p:sp>
            <p:nvSpPr>
              <p:cNvPr id="11" name="圆角矩形 10">
                <a:extLst>
                  <a:ext uri="{FF2B5EF4-FFF2-40B4-BE49-F238E27FC236}">
                    <a16:creationId xmlns:a16="http://schemas.microsoft.com/office/drawing/2014/main" id="{6E12F59D-036B-9921-5CB8-8C54D6423344}"/>
                  </a:ext>
                </a:extLst>
              </p:cNvPr>
              <p:cNvSpPr/>
              <p:nvPr/>
            </p:nvSpPr>
            <p:spPr>
              <a:xfrm>
                <a:off x="1092200" y="4495800"/>
                <a:ext cx="8763000" cy="1371600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" name="同侧圆角矩形 11">
                <a:extLst>
                  <a:ext uri="{FF2B5EF4-FFF2-40B4-BE49-F238E27FC236}">
                    <a16:creationId xmlns:a16="http://schemas.microsoft.com/office/drawing/2014/main" id="{31A2CF64-E2AC-4D7A-D32E-E2054A2F8443}"/>
                  </a:ext>
                </a:extLst>
              </p:cNvPr>
              <p:cNvSpPr/>
              <p:nvPr/>
            </p:nvSpPr>
            <p:spPr>
              <a:xfrm>
                <a:off x="1092200" y="4495800"/>
                <a:ext cx="8763000" cy="533400"/>
              </a:xfrm>
              <a:prstGeom prst="round2Same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AC668CE-7414-B60D-D4FC-9F1324AEB997}"/>
                </a:ext>
              </a:extLst>
            </p:cNvPr>
            <p:cNvSpPr txBox="1"/>
            <p:nvPr/>
          </p:nvSpPr>
          <p:spPr>
            <a:xfrm>
              <a:off x="1102610" y="4318785"/>
              <a:ext cx="9725702" cy="918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1600" dirty="0">
                  <a:solidFill>
                    <a:schemeClr val="bg1"/>
                  </a:solidFill>
                  <a:cs typeface="Book Antiqua" panose="02040602050305030304"/>
                </a:rPr>
                <a:t>bash</a:t>
              </a:r>
            </a:p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endParaRPr lang="en-US" altLang="zh-CN" sz="1200" dirty="0">
                <a:solidFill>
                  <a:schemeClr val="bg1"/>
                </a:solidFill>
                <a:cs typeface="Book Antiqua" panose="02040602050305030304"/>
              </a:endParaRPr>
            </a:p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400" dirty="0">
                  <a:solidFill>
                    <a:schemeClr val="bg1"/>
                  </a:solidFill>
                  <a:cs typeface="Book Antiqua" panose="02040602050305030304"/>
                </a:rPr>
                <a:t>   </a:t>
              </a:r>
              <a:r>
                <a:rPr lang="en-US" altLang="zh-CN" sz="2000" spc="-5" dirty="0">
                  <a:solidFill>
                    <a:schemeClr val="bg1"/>
                  </a:solidFill>
                  <a:highlight>
                    <a:srgbClr val="000000"/>
                  </a:highlight>
                  <a:latin typeface="Courier New" panose="02070309020205020404"/>
                  <a:cs typeface="Courier New" panose="02070309020205020404"/>
                </a:rPr>
                <a:t>curl -</a:t>
              </a:r>
              <a:r>
                <a:rPr lang="en-US" altLang="zh-CN" sz="2000" spc="-5" dirty="0" err="1">
                  <a:solidFill>
                    <a:schemeClr val="bg1"/>
                  </a:solidFill>
                  <a:highlight>
                    <a:srgbClr val="000000"/>
                  </a:highlight>
                  <a:latin typeface="Courier New" panose="02070309020205020404"/>
                  <a:cs typeface="Courier New" panose="02070309020205020404"/>
                </a:rPr>
                <a:t>fsSL</a:t>
              </a:r>
              <a:r>
                <a:rPr lang="en-US" altLang="zh-CN" sz="2000" spc="-5" dirty="0">
                  <a:solidFill>
                    <a:schemeClr val="bg1"/>
                  </a:solidFill>
                  <a:highlight>
                    <a:srgbClr val="000000"/>
                  </a:highlight>
                  <a:latin typeface="Courier New" panose="02070309020205020404"/>
                  <a:cs typeface="Courier New" panose="02070309020205020404"/>
                </a:rPr>
                <a:t> https://</a:t>
              </a:r>
              <a:r>
                <a:rPr lang="en-US" altLang="zh-CN" sz="2000" spc="-5" dirty="0" err="1">
                  <a:solidFill>
                    <a:schemeClr val="bg1"/>
                  </a:solidFill>
                  <a:highlight>
                    <a:srgbClr val="000000"/>
                  </a:highlight>
                  <a:latin typeface="Courier New" panose="02070309020205020404"/>
                  <a:cs typeface="Courier New" panose="02070309020205020404"/>
                </a:rPr>
                <a:t>test.docker.com</a:t>
              </a:r>
              <a:r>
                <a:rPr lang="en-US" altLang="zh-CN" sz="2000" spc="-5" dirty="0">
                  <a:solidFill>
                    <a:schemeClr val="bg1"/>
                  </a:solidFill>
                  <a:highlight>
                    <a:srgbClr val="000000"/>
                  </a:highlight>
                  <a:latin typeface="Courier New" panose="02070309020205020404"/>
                  <a:cs typeface="Courier New" panose="02070309020205020404"/>
                </a:rPr>
                <a:t> -o test-</a:t>
              </a:r>
              <a:r>
                <a:rPr lang="en-US" altLang="zh-CN" sz="2000" spc="-5" dirty="0" err="1">
                  <a:solidFill>
                    <a:schemeClr val="bg1"/>
                  </a:solidFill>
                  <a:highlight>
                    <a:srgbClr val="000000"/>
                  </a:highlight>
                  <a:latin typeface="Courier New" panose="02070309020205020404"/>
                  <a:cs typeface="Courier New" panose="02070309020205020404"/>
                </a:rPr>
                <a:t>docker.sh</a:t>
              </a:r>
              <a:endPara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endParaRPr>
            </a:p>
          </p:txBody>
        </p:sp>
      </p:grp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4999" y="834720"/>
            <a:ext cx="11734801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pc="30" dirty="0"/>
              <a:t>Creating </a:t>
            </a:r>
            <a:r>
              <a:rPr spc="-135" dirty="0"/>
              <a:t>Your </a:t>
            </a:r>
            <a:r>
              <a:rPr lang="en-US" altLang="zh-CN" spc="15" dirty="0"/>
              <a:t>Docker</a:t>
            </a:r>
            <a:r>
              <a:rPr lang="zh-CN" altLang="en-US" spc="15" dirty="0"/>
              <a:t> </a:t>
            </a:r>
            <a:r>
              <a:rPr lang="en-US" altLang="zh-CN" spc="15" dirty="0"/>
              <a:t>Container</a:t>
            </a:r>
            <a:endParaRPr spc="-85" dirty="0"/>
          </a:p>
        </p:txBody>
      </p:sp>
      <p:sp>
        <p:nvSpPr>
          <p:cNvPr id="4" name="object 4"/>
          <p:cNvSpPr txBox="1"/>
          <p:nvPr/>
        </p:nvSpPr>
        <p:spPr>
          <a:xfrm>
            <a:off x="546100" y="2413914"/>
            <a:ext cx="20447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10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sz="18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5789" y="3368629"/>
            <a:ext cx="11397615" cy="443390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950" dirty="0">
                <a:latin typeface="Book Antiqua" panose="02040602050305030304"/>
                <a:cs typeface="Book Antiqua" panose="02040602050305030304"/>
              </a:rPr>
              <a:t>Execute the following commands sequentially:</a:t>
            </a: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endParaRPr lang="en-US" sz="1400" dirty="0">
              <a:latin typeface="Book Antiqua" panose="02040602050305030304"/>
              <a:cs typeface="Book Antiqua" panose="02040602050305030304"/>
            </a:endParaRPr>
          </a:p>
          <a:p>
            <a:pPr marL="527050" indent="-514350">
              <a:lnSpc>
                <a:spcPct val="100000"/>
              </a:lnSpc>
              <a:spcBef>
                <a:spcPts val="135"/>
              </a:spcBef>
              <a:buAutoNum type="arabicPeriod"/>
            </a:pPr>
            <a:r>
              <a:rPr lang="en-US" sz="2950" dirty="0">
                <a:latin typeface="Book Antiqua" panose="02040602050305030304"/>
                <a:cs typeface="Book Antiqua" panose="02040602050305030304"/>
              </a:rPr>
              <a:t>Download the Docker installation script:</a:t>
            </a:r>
          </a:p>
          <a:p>
            <a:pPr marL="527050" indent="-514350">
              <a:lnSpc>
                <a:spcPct val="100000"/>
              </a:lnSpc>
              <a:spcBef>
                <a:spcPts val="135"/>
              </a:spcBef>
              <a:buAutoNum type="arabicPeriod"/>
            </a:pPr>
            <a:endParaRPr lang="en-US" sz="2950" dirty="0">
              <a:latin typeface="Book Antiqua" panose="02040602050305030304"/>
              <a:cs typeface="Book Antiqua" panose="02040602050305030304"/>
            </a:endParaRPr>
          </a:p>
          <a:p>
            <a:pPr marL="527050" indent="-514350">
              <a:lnSpc>
                <a:spcPct val="100000"/>
              </a:lnSpc>
              <a:spcBef>
                <a:spcPts val="135"/>
              </a:spcBef>
              <a:buAutoNum type="arabicPeriod"/>
            </a:pPr>
            <a:endParaRPr lang="en-US" sz="2950" dirty="0">
              <a:latin typeface="Book Antiqua" panose="02040602050305030304"/>
              <a:cs typeface="Book Antiqua" panose="02040602050305030304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endParaRPr lang="en-US" sz="2950" dirty="0">
              <a:latin typeface="Book Antiqua" panose="02040602050305030304"/>
              <a:cs typeface="Book Antiqua" panose="02040602050305030304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endParaRPr lang="en-US" sz="2950" dirty="0">
              <a:latin typeface="Book Antiqua" panose="02040602050305030304"/>
              <a:cs typeface="Book Antiqua" panose="02040602050305030304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950" dirty="0">
                <a:latin typeface="Book Antiqua" panose="02040602050305030304"/>
                <a:cs typeface="Book Antiqua" panose="02040602050305030304"/>
              </a:rPr>
              <a:t>2. Run the installation script:</a:t>
            </a: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endParaRPr lang="en-US" sz="2950" dirty="0">
              <a:latin typeface="Book Antiqua" panose="02040602050305030304"/>
              <a:cs typeface="Book Antiqua" panose="02040602050305030304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endParaRPr lang="en-US" sz="2950" dirty="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dirty="0"/>
              <a:t>3</a:t>
            </a:r>
          </a:p>
        </p:txBody>
      </p:sp>
      <p:sp>
        <p:nvSpPr>
          <p:cNvPr id="2" name="object 9">
            <a:extLst>
              <a:ext uri="{FF2B5EF4-FFF2-40B4-BE49-F238E27FC236}">
                <a16:creationId xmlns:a16="http://schemas.microsoft.com/office/drawing/2014/main" id="{EF977E1F-BC03-E65F-2001-5EB73B8D4E0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21A83FB-351D-E135-F63A-92812A62C786}"/>
              </a:ext>
            </a:extLst>
          </p:cNvPr>
          <p:cNvSpPr txBox="1"/>
          <p:nvPr/>
        </p:nvSpPr>
        <p:spPr>
          <a:xfrm>
            <a:off x="939800" y="2349836"/>
            <a:ext cx="65057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altLang="zh-CN" sz="3200" b="1" dirty="0">
                <a:latin typeface="Book Antiqua" panose="02040602050305030304"/>
              </a:rPr>
              <a:t>Installation</a:t>
            </a:r>
            <a:r>
              <a:rPr lang="en-US" altLang="zh-CN" sz="3200" b="1" dirty="0">
                <a:latin typeface="Book Antiqua" panose="02040602050305030304"/>
                <a:cs typeface="Book Antiqua" panose="02040602050305030304"/>
              </a:rPr>
              <a:t> of Docker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761DA39-2BFD-76AB-2D87-499066BBC656}"/>
              </a:ext>
            </a:extLst>
          </p:cNvPr>
          <p:cNvGrpSpPr/>
          <p:nvPr/>
        </p:nvGrpSpPr>
        <p:grpSpPr>
          <a:xfrm>
            <a:off x="1102610" y="7063358"/>
            <a:ext cx="10744200" cy="1090042"/>
            <a:chOff x="1092200" y="4277780"/>
            <a:chExt cx="10744200" cy="1090042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CF7C868F-BCA9-323D-81F1-F50150008B87}"/>
                </a:ext>
              </a:extLst>
            </p:cNvPr>
            <p:cNvGrpSpPr/>
            <p:nvPr/>
          </p:nvGrpSpPr>
          <p:grpSpPr>
            <a:xfrm>
              <a:off x="1092200" y="4277780"/>
              <a:ext cx="10744200" cy="1090042"/>
              <a:chOff x="1092200" y="4495800"/>
              <a:chExt cx="8763000" cy="1371600"/>
            </a:xfrm>
          </p:grpSpPr>
          <p:sp>
            <p:nvSpPr>
              <p:cNvPr id="24" name="圆角矩形 23">
                <a:extLst>
                  <a:ext uri="{FF2B5EF4-FFF2-40B4-BE49-F238E27FC236}">
                    <a16:creationId xmlns:a16="http://schemas.microsoft.com/office/drawing/2014/main" id="{1AC12F4E-B734-0873-218A-A3382D25CEB7}"/>
                  </a:ext>
                </a:extLst>
              </p:cNvPr>
              <p:cNvSpPr/>
              <p:nvPr/>
            </p:nvSpPr>
            <p:spPr>
              <a:xfrm>
                <a:off x="1092200" y="4495800"/>
                <a:ext cx="8763000" cy="1371600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5" name="同侧圆角矩形 24">
                <a:extLst>
                  <a:ext uri="{FF2B5EF4-FFF2-40B4-BE49-F238E27FC236}">
                    <a16:creationId xmlns:a16="http://schemas.microsoft.com/office/drawing/2014/main" id="{41770486-FF82-8B86-8C67-84620CF95568}"/>
                  </a:ext>
                </a:extLst>
              </p:cNvPr>
              <p:cNvSpPr/>
              <p:nvPr/>
            </p:nvSpPr>
            <p:spPr>
              <a:xfrm>
                <a:off x="1092200" y="4495800"/>
                <a:ext cx="8763000" cy="533400"/>
              </a:xfrm>
              <a:prstGeom prst="round2Same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0435766-DF6C-EFE8-70FF-C2ACA7E13F90}"/>
                </a:ext>
              </a:extLst>
            </p:cNvPr>
            <p:cNvSpPr txBox="1"/>
            <p:nvPr/>
          </p:nvSpPr>
          <p:spPr>
            <a:xfrm>
              <a:off x="1120098" y="4353980"/>
              <a:ext cx="9725702" cy="918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1600" dirty="0">
                  <a:solidFill>
                    <a:schemeClr val="bg1"/>
                  </a:solidFill>
                  <a:cs typeface="Book Antiqua" panose="02040602050305030304"/>
                </a:rPr>
                <a:t>bash</a:t>
              </a:r>
            </a:p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endParaRPr lang="en-US" altLang="zh-CN" sz="1200" dirty="0">
                <a:solidFill>
                  <a:schemeClr val="bg1"/>
                </a:solidFill>
                <a:cs typeface="Book Antiqua" panose="02040602050305030304"/>
              </a:endParaRPr>
            </a:p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400" dirty="0">
                  <a:solidFill>
                    <a:schemeClr val="bg1"/>
                  </a:solidFill>
                  <a:cs typeface="Book Antiqua" panose="02040602050305030304"/>
                </a:rPr>
                <a:t>   </a:t>
              </a:r>
              <a:r>
                <a:rPr lang="en-US" altLang="zh-CN" sz="2000" spc="-5" dirty="0" err="1">
                  <a:solidFill>
                    <a:schemeClr val="bg1"/>
                  </a:solidFill>
                  <a:highlight>
                    <a:srgbClr val="000000"/>
                  </a:highlight>
                  <a:latin typeface="Courier New" panose="02070309020205020404"/>
                  <a:cs typeface="Courier New" panose="02070309020205020404"/>
                </a:rPr>
                <a:t>sudo</a:t>
              </a:r>
              <a:r>
                <a:rPr lang="en-US" altLang="zh-CN" sz="2000" spc="-5" dirty="0">
                  <a:solidFill>
                    <a:schemeClr val="bg1"/>
                  </a:solidFill>
                  <a:highlight>
                    <a:srgbClr val="000000"/>
                  </a:highlight>
                  <a:latin typeface="Courier New" panose="02070309020205020404"/>
                  <a:cs typeface="Courier New" panose="02070309020205020404"/>
                </a:rPr>
                <a:t> </a:t>
              </a:r>
              <a:r>
                <a:rPr lang="en-US" altLang="zh-CN" sz="2000" spc="-5" dirty="0" err="1">
                  <a:solidFill>
                    <a:schemeClr val="bg1"/>
                  </a:solidFill>
                  <a:highlight>
                    <a:srgbClr val="000000"/>
                  </a:highlight>
                  <a:latin typeface="Courier New" panose="02070309020205020404"/>
                  <a:cs typeface="Courier New" panose="02070309020205020404"/>
                </a:rPr>
                <a:t>sh</a:t>
              </a:r>
              <a:r>
                <a:rPr lang="en-US" altLang="zh-CN" sz="2000" spc="-5" dirty="0">
                  <a:solidFill>
                    <a:schemeClr val="bg1"/>
                  </a:solidFill>
                  <a:highlight>
                    <a:srgbClr val="000000"/>
                  </a:highlight>
                  <a:latin typeface="Courier New" panose="02070309020205020404"/>
                  <a:cs typeface="Courier New" panose="02070309020205020404"/>
                </a:rPr>
                <a:t> test-</a:t>
              </a:r>
              <a:r>
                <a:rPr lang="en-US" altLang="zh-CN" sz="2000" spc="-5" dirty="0" err="1">
                  <a:solidFill>
                    <a:schemeClr val="bg1"/>
                  </a:solidFill>
                  <a:highlight>
                    <a:srgbClr val="000000"/>
                  </a:highlight>
                  <a:latin typeface="Courier New" panose="02070309020205020404"/>
                  <a:cs typeface="Courier New" panose="02070309020205020404"/>
                </a:rPr>
                <a:t>docker.sh</a:t>
              </a:r>
              <a:endPara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4999" y="834720"/>
            <a:ext cx="11734801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pc="30" dirty="0"/>
              <a:t>Creating </a:t>
            </a:r>
            <a:r>
              <a:rPr spc="-135" dirty="0"/>
              <a:t>Your </a:t>
            </a:r>
            <a:r>
              <a:rPr lang="en-US" altLang="zh-CN" spc="15" dirty="0"/>
              <a:t>Docker</a:t>
            </a:r>
            <a:r>
              <a:rPr lang="zh-CN" altLang="en-US" spc="15" dirty="0"/>
              <a:t> </a:t>
            </a:r>
            <a:r>
              <a:rPr lang="en-US" altLang="zh-CN" spc="15" dirty="0"/>
              <a:t>Container</a:t>
            </a:r>
            <a:endParaRPr spc="-85" dirty="0"/>
          </a:p>
        </p:txBody>
      </p:sp>
      <p:sp>
        <p:nvSpPr>
          <p:cNvPr id="4" name="object 4"/>
          <p:cNvSpPr txBox="1"/>
          <p:nvPr/>
        </p:nvSpPr>
        <p:spPr>
          <a:xfrm>
            <a:off x="546100" y="2413914"/>
            <a:ext cx="20447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10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sz="18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5236" y="2394659"/>
            <a:ext cx="11397615" cy="20204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950" dirty="0">
                <a:latin typeface="Book Antiqua" panose="02040602050305030304"/>
                <a:cs typeface="Book Antiqua" panose="02040602050305030304"/>
              </a:rPr>
              <a:t>To test if Docker has been installed successfully, enter the command:</a:t>
            </a: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endParaRPr lang="en-US" sz="4000" dirty="0">
              <a:latin typeface="Book Antiqua" panose="02040602050305030304"/>
              <a:cs typeface="Book Antiqua" panose="02040602050305030304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950" dirty="0">
                <a:latin typeface="Book Antiqua" panose="02040602050305030304"/>
                <a:cs typeface="Book Antiqua" panose="02040602050305030304"/>
              </a:rPr>
              <a:t>If you see a message similar to the one depicted below, Docker has been successfully installed.</a:t>
            </a:r>
            <a:endParaRPr sz="2950" dirty="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6350000" y="9349618"/>
            <a:ext cx="279400" cy="245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lang="en-US" dirty="0"/>
              <a:t>4</a:t>
            </a:r>
            <a:endParaRPr dirty="0"/>
          </a:p>
        </p:txBody>
      </p:sp>
      <p:sp>
        <p:nvSpPr>
          <p:cNvPr id="2" name="object 9">
            <a:extLst>
              <a:ext uri="{FF2B5EF4-FFF2-40B4-BE49-F238E27FC236}">
                <a16:creationId xmlns:a16="http://schemas.microsoft.com/office/drawing/2014/main" id="{EF977E1F-BC03-E65F-2001-5EB73B8D4E0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7234984-E888-995B-F80B-8AE809485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100" y="4546502"/>
            <a:ext cx="6781800" cy="474989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6C8D60CE-4219-AF2C-FF88-50431BCFFED6}"/>
              </a:ext>
            </a:extLst>
          </p:cNvPr>
          <p:cNvSpPr txBox="1"/>
          <p:nvPr/>
        </p:nvSpPr>
        <p:spPr>
          <a:xfrm>
            <a:off x="1016000" y="2889346"/>
            <a:ext cx="6400800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  <a:spcBef>
                <a:spcPts val="135"/>
              </a:spcBef>
            </a:pP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sudo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docker run hello-world</a:t>
            </a:r>
          </a:p>
        </p:txBody>
      </p:sp>
    </p:spTree>
    <p:extLst>
      <p:ext uri="{BB962C8B-B14F-4D97-AF65-F5344CB8AC3E}">
        <p14:creationId xmlns:p14="http://schemas.microsoft.com/office/powerpoint/2010/main" val="2663472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3CE47-6E1B-F56F-4437-09CBC17C2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0ADE4-93AA-2BA5-77A1-2838455630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8310" y="3982334"/>
            <a:ext cx="9568180" cy="1846659"/>
          </a:xfrm>
        </p:spPr>
        <p:txBody>
          <a:bodyPr/>
          <a:lstStyle/>
          <a:p>
            <a:pPr algn="ctr"/>
            <a:r>
              <a:rPr lang="en-US" altLang="zh-CN" sz="6000" dirty="0"/>
              <a:t>4.</a:t>
            </a:r>
            <a:r>
              <a:rPr lang="zh-CN" altLang="en-US" sz="6000" dirty="0"/>
              <a:t> </a:t>
            </a:r>
            <a:r>
              <a:rPr lang="en-US" altLang="zh-CN" sz="6000" dirty="0"/>
              <a:t>Project</a:t>
            </a:r>
            <a:r>
              <a:rPr lang="zh-CN" altLang="en-US" sz="6000" dirty="0"/>
              <a:t> </a:t>
            </a:r>
            <a:r>
              <a:rPr lang="en-US" altLang="zh-CN" sz="6000" dirty="0"/>
              <a:t>Specific Docker Configuration</a:t>
            </a:r>
            <a:endParaRPr lang="en-CN" sz="6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DE714E-6429-DD51-158D-9D5493C1F3C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E243E-3F3F-B08D-107C-F8E007FF01C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940"/>
              </a:lnSpc>
            </a:pPr>
            <a:fld id="{81D60167-4931-47E6-BA6A-407CBD079E47}" type="slidenum">
              <a:rPr lang="en-CN" smtClean="0"/>
              <a:t>14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888132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6301" y="824937"/>
            <a:ext cx="11892197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spcBef>
                <a:spcPts val="100"/>
              </a:spcBef>
            </a:pPr>
            <a:r>
              <a:rPr lang="en-US" altLang="zh-CN" spc="30" dirty="0"/>
              <a:t>Install Node-RED Using Docker</a:t>
            </a:r>
            <a:endParaRPr lang="en-US" spc="30" dirty="0"/>
          </a:p>
        </p:txBody>
      </p:sp>
      <p:sp>
        <p:nvSpPr>
          <p:cNvPr id="4" name="object 4"/>
          <p:cNvSpPr txBox="1"/>
          <p:nvPr/>
        </p:nvSpPr>
        <p:spPr>
          <a:xfrm>
            <a:off x="546100" y="2413914"/>
            <a:ext cx="20447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10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sz="18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0592" y="2327217"/>
            <a:ext cx="11397615" cy="145616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135"/>
              </a:spcBef>
              <a:buAutoNum type="arabicPeriod"/>
            </a:pPr>
            <a:r>
              <a:rPr lang="en-US" sz="2950" b="1" dirty="0">
                <a:latin typeface="Book Antiqua" panose="02040602050305030304"/>
                <a:cs typeface="Book Antiqua" panose="02040602050305030304"/>
              </a:rPr>
              <a:t>Searching for the Node-RED Image Version:</a:t>
            </a: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endParaRPr lang="en-US" sz="1000" dirty="0">
              <a:latin typeface="Book Antiqua" panose="02040602050305030304"/>
              <a:cs typeface="Book Antiqua" panose="02040602050305030304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400" dirty="0">
                <a:latin typeface="Book Antiqua" panose="02040602050305030304"/>
                <a:cs typeface="Book Antiqua" panose="02040602050305030304"/>
              </a:rPr>
              <a:t>To find the version of the Node-RED image you want to install, enter the command: </a:t>
            </a:r>
          </a:p>
          <a:p>
            <a:pPr marL="12700">
              <a:lnSpc>
                <a:spcPct val="150000"/>
              </a:lnSpc>
              <a:spcBef>
                <a:spcPts val="135"/>
              </a:spcBef>
            </a:pP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sudo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docker search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nodered</a:t>
            </a:r>
            <a:endParaRPr lang="en-US" altLang="zh-CN" sz="2000" spc="-5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6350000" y="9349618"/>
            <a:ext cx="279400" cy="245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lang="en-US" altLang="zh-CN" dirty="0"/>
              <a:t>5</a:t>
            </a:r>
            <a:endParaRPr dirty="0"/>
          </a:p>
        </p:txBody>
      </p:sp>
      <p:sp>
        <p:nvSpPr>
          <p:cNvPr id="2" name="object 9">
            <a:extLst>
              <a:ext uri="{FF2B5EF4-FFF2-40B4-BE49-F238E27FC236}">
                <a16:creationId xmlns:a16="http://schemas.microsoft.com/office/drawing/2014/main" id="{EF977E1F-BC03-E65F-2001-5EB73B8D4E0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53E56F6-982F-D9D1-04A9-2033D2102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592" y="4522373"/>
            <a:ext cx="10744199" cy="429768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7EDDA021-16C4-3A0B-24CB-ED9A62A5D5B3}"/>
              </a:ext>
            </a:extLst>
          </p:cNvPr>
          <p:cNvSpPr txBox="1"/>
          <p:nvPr/>
        </p:nvSpPr>
        <p:spPr>
          <a:xfrm>
            <a:off x="863600" y="4038600"/>
            <a:ext cx="65057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Book Antiqua" panose="02040602050305030304"/>
              </a:rPr>
              <a:t>From the results, we select </a:t>
            </a:r>
            <a:r>
              <a:rPr lang="zh-CN" altLang="en-US" sz="2400" b="1" dirty="0">
                <a:latin typeface="Book Antiqua" panose="02040602050305030304"/>
              </a:rPr>
              <a:t>nodered/node-red</a:t>
            </a:r>
            <a:r>
              <a:rPr lang="zh-CN" altLang="en-US" sz="2400" dirty="0">
                <a:latin typeface="Book Antiqua" panose="0204060205030503030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6554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6100" y="2378151"/>
            <a:ext cx="15240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15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sz="12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271948"/>
            <a:ext cx="4000500" cy="4700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altLang="zh-CN" sz="2950" b="1" dirty="0">
                <a:latin typeface="Book Antiqua" panose="02040602050305030304"/>
              </a:rPr>
              <a:t>2.  Pulling the Image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dirty="0"/>
              <a:t>6</a:t>
            </a:r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228C0651-8374-607C-F64E-097BF19C9FE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43669F-BCBB-F1A9-5B7C-2C4E60D14A21}"/>
              </a:ext>
            </a:extLst>
          </p:cNvPr>
          <p:cNvSpPr txBox="1"/>
          <p:nvPr/>
        </p:nvSpPr>
        <p:spPr>
          <a:xfrm>
            <a:off x="825500" y="2798512"/>
            <a:ext cx="112395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Book Antiqua" panose="02040602050305030304"/>
              </a:rPr>
              <a:t>To pull the image, enter the command: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sudo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docker pull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nodered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/node-red</a:t>
            </a:r>
          </a:p>
          <a:p>
            <a:endParaRPr lang="zh-CN" altLang="en-US" sz="2400" dirty="0">
              <a:latin typeface="Book Antiqua" panose="02040602050305030304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D6918E5-0F11-4611-ED82-AE54570FB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800" y="7998700"/>
            <a:ext cx="7772400" cy="131968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F376CC3-464A-4F20-3DD2-D35D65F4A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800" y="3307557"/>
            <a:ext cx="7772400" cy="400764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B023CB93-ACF2-2A24-E721-88AEAF02349C}"/>
              </a:ext>
            </a:extLst>
          </p:cNvPr>
          <p:cNvSpPr txBox="1"/>
          <p:nvPr/>
        </p:nvSpPr>
        <p:spPr>
          <a:xfrm>
            <a:off x="825500" y="7463135"/>
            <a:ext cx="12179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Book Antiqua" panose="02040602050305030304"/>
              </a:rPr>
              <a:t>After executing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sudo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docker images</a:t>
            </a:r>
            <a:r>
              <a:rPr lang="en-US" altLang="zh-CN" sz="2400" dirty="0">
                <a:latin typeface="Book Antiqua" panose="02040602050305030304"/>
              </a:rPr>
              <a:t>, </a:t>
            </a:r>
            <a:r>
              <a:rPr lang="en-US" altLang="zh-CN" sz="2400" dirty="0" err="1">
                <a:latin typeface="Book Antiqua" panose="02040602050305030304"/>
              </a:rPr>
              <a:t>nodered</a:t>
            </a:r>
            <a:r>
              <a:rPr lang="en-US" altLang="zh-CN" sz="2400" dirty="0">
                <a:latin typeface="Book Antiqua" panose="02040602050305030304"/>
              </a:rPr>
              <a:t>/node-red has been successfully pulled.</a:t>
            </a:r>
            <a:endParaRPr lang="en-US" altLang="zh-CN" sz="2800" dirty="0">
              <a:solidFill>
                <a:schemeClr val="bg1"/>
              </a:solidFill>
              <a:highlight>
                <a:srgbClr val="000000"/>
              </a:highlight>
              <a:cs typeface="Book Antiqua" panose="02040602050305030304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8E3D1D3B-B720-5271-2A69-815E0B484571}"/>
              </a:ext>
            </a:extLst>
          </p:cNvPr>
          <p:cNvSpPr txBox="1">
            <a:spLocks/>
          </p:cNvSpPr>
          <p:nvPr/>
        </p:nvSpPr>
        <p:spPr>
          <a:xfrm>
            <a:off x="556301" y="824937"/>
            <a:ext cx="11892197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7000" b="0" i="0">
                <a:solidFill>
                  <a:srgbClr val="D93E2B"/>
                </a:solidFill>
                <a:latin typeface="Garamond" panose="02020404030301010803"/>
                <a:ea typeface="+mj-ea"/>
                <a:cs typeface="Garamond" panose="02020404030301010803"/>
              </a:defRPr>
            </a:lvl1pPr>
          </a:lstStyle>
          <a:p>
            <a:pPr marL="21590">
              <a:spcBef>
                <a:spcPts val="100"/>
              </a:spcBef>
            </a:pPr>
            <a:r>
              <a:rPr lang="en-US" altLang="zh-CN" kern="0" spc="30"/>
              <a:t>Install Node-RED Using Docker</a:t>
            </a:r>
            <a:endParaRPr lang="en-US" kern="0" spc="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6100" y="2447290"/>
            <a:ext cx="15240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15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sz="1250" dirty="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500" y="2308351"/>
            <a:ext cx="11543665" cy="4700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altLang="zh-CN" sz="2950" b="1" dirty="0">
                <a:latin typeface="Book Antiqua" panose="02040602050305030304"/>
              </a:rPr>
              <a:t>3. Running the Node-RED Image as a Container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6350000" y="9349618"/>
            <a:ext cx="279400" cy="245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lang="en-US" dirty="0"/>
              <a:t>7</a:t>
            </a:r>
            <a:endParaRPr dirty="0"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228C0651-8374-607C-F64E-097BF19C9FE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43669F-BCBB-F1A9-5B7C-2C4E60D14A21}"/>
              </a:ext>
            </a:extLst>
          </p:cNvPr>
          <p:cNvSpPr txBox="1"/>
          <p:nvPr/>
        </p:nvSpPr>
        <p:spPr>
          <a:xfrm>
            <a:off x="698500" y="2857760"/>
            <a:ext cx="12179300" cy="483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400" b="1" dirty="0">
                <a:latin typeface="Book Antiqua" panose="02040602050305030304"/>
              </a:rPr>
              <a:t>Create a Directory</a:t>
            </a:r>
            <a:r>
              <a:rPr lang="en-US" altLang="zh-CN" sz="2400" dirty="0">
                <a:latin typeface="Book Antiqua" panose="02040602050305030304"/>
              </a:rPr>
              <a:t>: Execute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sudo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mkdir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/opt/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node_red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 </a:t>
            </a:r>
            <a:endParaRPr lang="en-US" altLang="zh-CN" spc="-5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/>
              <a:cs typeface="Courier New" panose="02070309020205020404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400" b="1" dirty="0">
                <a:latin typeface="Book Antiqua" panose="02040602050305030304"/>
              </a:rPr>
              <a:t>Assign Permissions</a:t>
            </a:r>
            <a:r>
              <a:rPr lang="en-US" altLang="zh-CN" sz="2400" dirty="0">
                <a:latin typeface="Book Antiqua" panose="02040602050305030304"/>
              </a:rPr>
              <a:t>: Execute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sudo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chmod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777 /opt/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node_red</a:t>
            </a:r>
            <a:endParaRPr lang="en-US" altLang="zh-CN" spc="-5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/>
              <a:cs typeface="Courier New" panose="02070309020205020404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400" b="1" dirty="0">
                <a:latin typeface="Book Antiqua" panose="02040602050305030304"/>
              </a:rPr>
              <a:t>Run the Image</a:t>
            </a:r>
            <a:r>
              <a:rPr lang="en-US" altLang="zh-CN" sz="2400" dirty="0">
                <a:latin typeface="Book Antiqua" panose="02040602050305030304"/>
              </a:rPr>
              <a:t>:</a:t>
            </a:r>
            <a:r>
              <a:rPr lang="en-US" altLang="zh-CN" sz="2400" b="1" dirty="0">
                <a:latin typeface="Book Antiqua" panose="02040602050305030304"/>
              </a:rPr>
              <a:t>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sudo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docker run -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itd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-p 1880:1880 -v /opt/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node_red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:/data --name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nodered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nodered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/node-red</a:t>
            </a:r>
          </a:p>
          <a:p>
            <a:endParaRPr lang="en-US" altLang="zh-CN" sz="2400" dirty="0">
              <a:solidFill>
                <a:schemeClr val="bg1"/>
              </a:solidFill>
              <a:highlight>
                <a:srgbClr val="000000"/>
              </a:highlight>
              <a:latin typeface="Book Antiqua" panose="02040602050305030304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Book Antiqua" panose="02040602050305030304"/>
              </a:rPr>
              <a:t>-v /opt/</a:t>
            </a:r>
            <a:r>
              <a:rPr lang="en-US" altLang="zh-CN" sz="2400" b="1" dirty="0" err="1">
                <a:latin typeface="Book Antiqua" panose="02040602050305030304"/>
              </a:rPr>
              <a:t>node_red</a:t>
            </a:r>
            <a:r>
              <a:rPr lang="en-US" altLang="zh-CN" sz="2400" b="1" dirty="0">
                <a:latin typeface="Book Antiqua" panose="02040602050305030304"/>
              </a:rPr>
              <a:t>:/data  </a:t>
            </a:r>
            <a:r>
              <a:rPr lang="en-US" altLang="zh-CN" sz="2400" dirty="0">
                <a:latin typeface="Book Antiqua" panose="02040602050305030304"/>
              </a:rPr>
              <a:t>mounts the host's /opt/</a:t>
            </a:r>
            <a:r>
              <a:rPr lang="en-US" altLang="zh-CN" sz="2400" dirty="0" err="1">
                <a:latin typeface="Book Antiqua" panose="02040602050305030304"/>
              </a:rPr>
              <a:t>node_red</a:t>
            </a:r>
            <a:r>
              <a:rPr lang="en-US" altLang="zh-CN" sz="2400" dirty="0">
                <a:latin typeface="Book Antiqua" panose="02040602050305030304"/>
              </a:rPr>
              <a:t> directory to /data in the container.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Book Antiqua" panose="02040602050305030304"/>
              </a:rPr>
              <a:t>--name </a:t>
            </a:r>
            <a:r>
              <a:rPr lang="en-US" altLang="zh-CN" sz="2400" b="1" dirty="0" err="1">
                <a:latin typeface="Book Antiqua" panose="02040602050305030304"/>
              </a:rPr>
              <a:t>nodered</a:t>
            </a:r>
            <a:r>
              <a:rPr lang="en-US" altLang="zh-CN" sz="2400" b="1" dirty="0">
                <a:latin typeface="Book Antiqua" panose="02040602050305030304"/>
              </a:rPr>
              <a:t>  </a:t>
            </a:r>
            <a:r>
              <a:rPr lang="en-US" altLang="zh-CN" sz="2400" dirty="0">
                <a:latin typeface="Book Antiqua" panose="02040602050305030304"/>
              </a:rPr>
              <a:t>sets the container's name to </a:t>
            </a:r>
            <a:r>
              <a:rPr lang="en-US" altLang="zh-CN" sz="2400" dirty="0" err="1">
                <a:latin typeface="Book Antiqua" panose="02040602050305030304"/>
              </a:rPr>
              <a:t>nodered</a:t>
            </a:r>
            <a:r>
              <a:rPr lang="en-US" altLang="zh-CN" sz="2400" dirty="0">
                <a:latin typeface="Book Antiqua" panose="02040602050305030304"/>
              </a:rPr>
              <a:t>. You can see the running container named </a:t>
            </a:r>
            <a:r>
              <a:rPr lang="en-US" altLang="zh-CN" sz="2400" dirty="0" err="1">
                <a:latin typeface="Book Antiqua" panose="02040602050305030304"/>
              </a:rPr>
              <a:t>nodered</a:t>
            </a:r>
            <a:r>
              <a:rPr lang="en-US" altLang="zh-CN" sz="2400" dirty="0">
                <a:latin typeface="Book Antiqua" panose="02040602050305030304"/>
              </a:rPr>
              <a:t> by executing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sudo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docker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ps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-a</a:t>
            </a:r>
            <a:r>
              <a:rPr lang="en-US" altLang="zh-CN" sz="2400" dirty="0">
                <a:latin typeface="Book Antiqua" panose="02040602050305030304"/>
              </a:rPr>
              <a:t>.</a:t>
            </a:r>
            <a:endParaRPr lang="zh-CN" altLang="en-US" sz="2400" dirty="0">
              <a:latin typeface="Book Antiqua" panose="02040602050305030304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F546E8D6-A566-8B2B-6452-7131C4A44C88}"/>
              </a:ext>
            </a:extLst>
          </p:cNvPr>
          <p:cNvSpPr txBox="1">
            <a:spLocks/>
          </p:cNvSpPr>
          <p:nvPr/>
        </p:nvSpPr>
        <p:spPr>
          <a:xfrm>
            <a:off x="556301" y="824937"/>
            <a:ext cx="11892197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7000" b="0" i="0">
                <a:solidFill>
                  <a:srgbClr val="D93E2B"/>
                </a:solidFill>
                <a:latin typeface="Garamond" panose="02020404030301010803"/>
                <a:ea typeface="+mj-ea"/>
                <a:cs typeface="Garamond" panose="02020404030301010803"/>
              </a:defRPr>
            </a:lvl1pPr>
          </a:lstStyle>
          <a:p>
            <a:pPr marL="21590">
              <a:spcBef>
                <a:spcPts val="100"/>
              </a:spcBef>
            </a:pPr>
            <a:r>
              <a:rPr lang="en-US" altLang="zh-CN" kern="0" spc="30"/>
              <a:t>Install Node-RED Using Docker</a:t>
            </a:r>
            <a:endParaRPr lang="en-US" kern="0" spc="3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FE9689E-E302-B112-8269-4B5509F60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924" y="7886787"/>
            <a:ext cx="11777315" cy="72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735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41966" y="2209800"/>
            <a:ext cx="11543665" cy="20601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circleNumDbPlain" startAt="4"/>
            </a:pPr>
            <a:r>
              <a:rPr lang="en-US" altLang="zh-CN" sz="2400" b="1" dirty="0">
                <a:latin typeface="Book Antiqua" panose="02040602050305030304"/>
              </a:rPr>
              <a:t>Verifying the Container</a:t>
            </a:r>
            <a:r>
              <a:rPr lang="en-US" altLang="zh-CN" sz="2400" dirty="0">
                <a:latin typeface="Book Antiqua" panose="02040602050305030304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Book Antiqua" panose="02040602050305030304"/>
              </a:rPr>
              <a:t>Open Google Chrome or any web browser and enter http://127.0.0.1:1880. If you see the Node-RED interface as expected, the container is running correctly.</a:t>
            </a:r>
          </a:p>
          <a:p>
            <a:pPr marL="469900" indent="-457200">
              <a:spcBef>
                <a:spcPts val="135"/>
              </a:spcBef>
              <a:buFont typeface="+mj-ea"/>
              <a:buAutoNum type="circleNumDbPlain" startAt="4"/>
            </a:pPr>
            <a:endParaRPr lang="en-US" altLang="zh-CN" sz="2400" dirty="0">
              <a:latin typeface="Book Antiqua" panose="020406020503050303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6350000" y="9349618"/>
            <a:ext cx="279400" cy="245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lang="en-US" dirty="0"/>
              <a:t>8</a:t>
            </a:r>
            <a:endParaRPr dirty="0"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228C0651-8374-607C-F64E-097BF19C9FE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F546E8D6-A566-8B2B-6452-7131C4A44C88}"/>
              </a:ext>
            </a:extLst>
          </p:cNvPr>
          <p:cNvSpPr txBox="1">
            <a:spLocks/>
          </p:cNvSpPr>
          <p:nvPr/>
        </p:nvSpPr>
        <p:spPr>
          <a:xfrm>
            <a:off x="556301" y="824937"/>
            <a:ext cx="11892197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7000" b="0" i="0">
                <a:solidFill>
                  <a:srgbClr val="D93E2B"/>
                </a:solidFill>
                <a:latin typeface="Garamond" panose="02020404030301010803"/>
                <a:ea typeface="+mj-ea"/>
                <a:cs typeface="Garamond" panose="02020404030301010803"/>
              </a:defRPr>
            </a:lvl1pPr>
          </a:lstStyle>
          <a:p>
            <a:pPr marL="21590">
              <a:spcBef>
                <a:spcPts val="100"/>
              </a:spcBef>
            </a:pPr>
            <a:r>
              <a:rPr lang="en-US" altLang="zh-CN" kern="0" spc="30"/>
              <a:t>Install Node-RED Using Docker</a:t>
            </a:r>
            <a:endParaRPr lang="en-US" kern="0" spc="3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55481B6-A8EB-D87A-5280-C5CD12606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96" y="4038600"/>
            <a:ext cx="10883808" cy="499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394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6100" y="2378151"/>
            <a:ext cx="15240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15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sz="12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635" y="1999941"/>
            <a:ext cx="11543665" cy="92397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altLang="zh-CN" sz="2950" b="1" dirty="0">
                <a:latin typeface="Book Antiqua" panose="02040602050305030304"/>
              </a:rPr>
              <a:t>4. Deleting the Container (</a:t>
            </a:r>
            <a:r>
              <a:rPr lang="en-US" altLang="zh-CN" sz="2950" b="1" dirty="0">
                <a:solidFill>
                  <a:srgbClr val="FF0000"/>
                </a:solidFill>
                <a:latin typeface="Book Antiqua" panose="02040602050305030304"/>
              </a:rPr>
              <a:t>Demonstration only. Don’t do so if you need to use it later</a:t>
            </a:r>
            <a:r>
              <a:rPr lang="en-US" altLang="zh-CN" sz="2950" b="1" dirty="0">
                <a:latin typeface="Book Antiqua" panose="02040602050305030304"/>
              </a:rPr>
              <a:t>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6350000" y="9349618"/>
            <a:ext cx="279400" cy="245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lang="en-US" dirty="0"/>
              <a:t>9</a:t>
            </a:r>
            <a:endParaRPr dirty="0"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228C0651-8374-607C-F64E-097BF19C9FE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43669F-BCBB-F1A9-5B7C-2C4E60D14A21}"/>
              </a:ext>
            </a:extLst>
          </p:cNvPr>
          <p:cNvSpPr txBox="1"/>
          <p:nvPr/>
        </p:nvSpPr>
        <p:spPr>
          <a:xfrm>
            <a:off x="698500" y="2778351"/>
            <a:ext cx="108331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000" b="1" dirty="0">
                <a:latin typeface="Book Antiqua" panose="02040602050305030304"/>
              </a:rPr>
              <a:t>Get the Container ID</a:t>
            </a:r>
            <a:r>
              <a:rPr lang="en-US" altLang="zh-CN" sz="2000" dirty="0">
                <a:latin typeface="Book Antiqua" panose="02040602050305030304"/>
              </a:rPr>
              <a:t>: Enter </a:t>
            </a:r>
            <a:r>
              <a:rPr lang="en-US" altLang="zh-CN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sudo</a:t>
            </a:r>
            <a:r>
              <a:rPr lang="en-US" altLang="zh-CN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docker </a:t>
            </a:r>
            <a:r>
              <a:rPr lang="en-US" altLang="zh-CN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ps</a:t>
            </a:r>
            <a:r>
              <a:rPr lang="en-US" altLang="zh-CN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-a</a:t>
            </a:r>
            <a:r>
              <a:rPr lang="en-US" altLang="zh-CN" sz="2000" dirty="0">
                <a:latin typeface="Book Antiqua" panose="02040602050305030304"/>
              </a:rPr>
              <a:t>. Let's say the container ID is eaba53fa9c03.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endParaRPr lang="en-US" altLang="zh-CN" sz="2000" dirty="0">
              <a:latin typeface="Book Antiqua" panose="02040602050305030304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endParaRPr lang="en-US" altLang="zh-CN" sz="3200" dirty="0">
              <a:latin typeface="Book Antiqua" panose="02040602050305030304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000" b="1" dirty="0">
                <a:latin typeface="Book Antiqua" panose="02040602050305030304"/>
              </a:rPr>
              <a:t>Stop the Container</a:t>
            </a:r>
            <a:r>
              <a:rPr lang="en-US" altLang="zh-CN" sz="2000" dirty="0">
                <a:latin typeface="Book Antiqua" panose="02040602050305030304"/>
              </a:rPr>
              <a:t>: Execute </a:t>
            </a:r>
            <a:r>
              <a:rPr lang="en-US" altLang="zh-CN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sudo</a:t>
            </a:r>
            <a:r>
              <a:rPr lang="en-US" altLang="zh-CN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docker stop eaba53fa9c03</a:t>
            </a:r>
            <a:r>
              <a:rPr lang="en-US" altLang="zh-CN" sz="2000" dirty="0">
                <a:latin typeface="Book Antiqua" panose="02040602050305030304"/>
              </a:rPr>
              <a:t>. After this, if you run  </a:t>
            </a:r>
            <a:r>
              <a:rPr lang="en-US" altLang="zh-CN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sudo</a:t>
            </a:r>
            <a:r>
              <a:rPr lang="en-US" altLang="zh-CN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docker </a:t>
            </a:r>
            <a:r>
              <a:rPr lang="en-US" altLang="zh-CN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ps</a:t>
            </a:r>
            <a:r>
              <a:rPr lang="en-US" altLang="zh-CN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-a</a:t>
            </a:r>
            <a:r>
              <a:rPr lang="en-US" altLang="zh-CN" sz="2000" dirty="0">
                <a:latin typeface="Book Antiqua" panose="02040602050305030304"/>
              </a:rPr>
              <a:t>, you should see the container's status as Exited.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endParaRPr lang="en-US" altLang="zh-CN" sz="1200" dirty="0">
              <a:latin typeface="Book Antiqua" panose="02040602050305030304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endParaRPr lang="en-US" altLang="zh-CN" sz="1600" dirty="0">
              <a:latin typeface="Book Antiqua" panose="02040602050305030304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endParaRPr lang="en-US" altLang="zh-CN" sz="2400" dirty="0">
              <a:latin typeface="Book Antiqua" panose="02040602050305030304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000" b="1" dirty="0">
                <a:latin typeface="Book Antiqua" panose="02040602050305030304"/>
              </a:rPr>
              <a:t>Delete the Container</a:t>
            </a:r>
            <a:r>
              <a:rPr lang="en-US" altLang="zh-CN" sz="2000" dirty="0">
                <a:latin typeface="Book Antiqua" panose="02040602050305030304"/>
              </a:rPr>
              <a:t>: Execute </a:t>
            </a:r>
            <a:r>
              <a:rPr lang="en-US" altLang="zh-CN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sudo</a:t>
            </a:r>
            <a:r>
              <a:rPr lang="en-US" altLang="zh-CN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docker rm -f eaba53fa9c03</a:t>
            </a:r>
            <a:r>
              <a:rPr lang="en-US" altLang="zh-CN" sz="2000" dirty="0">
                <a:latin typeface="Book Antiqua" panose="02040602050305030304"/>
              </a:rPr>
              <a:t>. Afterward, running </a:t>
            </a:r>
            <a:r>
              <a:rPr lang="en-US" altLang="zh-CN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sudo</a:t>
            </a:r>
            <a:r>
              <a:rPr lang="en-US" altLang="zh-CN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docker </a:t>
            </a:r>
            <a:r>
              <a:rPr lang="en-US" altLang="zh-CN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ps</a:t>
            </a:r>
            <a:r>
              <a:rPr lang="en-US" altLang="zh-CN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-a</a:t>
            </a:r>
            <a:r>
              <a:rPr lang="en-US" altLang="zh-CN" spc="-5" dirty="0">
                <a:solidFill>
                  <a:schemeClr val="bg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000" dirty="0">
                <a:latin typeface="Book Antiqua" panose="02040602050305030304"/>
              </a:rPr>
              <a:t>will show that the container no longer exists.</a:t>
            </a:r>
          </a:p>
          <a:p>
            <a:endParaRPr lang="zh-CN" altLang="en-US" sz="2400" dirty="0">
              <a:latin typeface="Book Antiqua" panose="02040602050305030304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8E3D1D3B-B720-5271-2A69-815E0B484571}"/>
              </a:ext>
            </a:extLst>
          </p:cNvPr>
          <p:cNvSpPr txBox="1">
            <a:spLocks/>
          </p:cNvSpPr>
          <p:nvPr/>
        </p:nvSpPr>
        <p:spPr>
          <a:xfrm>
            <a:off x="556301" y="824937"/>
            <a:ext cx="11892197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7000" b="0" i="0">
                <a:solidFill>
                  <a:srgbClr val="D93E2B"/>
                </a:solidFill>
                <a:latin typeface="Garamond" panose="02020404030301010803"/>
                <a:ea typeface="+mj-ea"/>
                <a:cs typeface="Garamond" panose="02020404030301010803"/>
              </a:defRPr>
            </a:lvl1pPr>
          </a:lstStyle>
          <a:p>
            <a:pPr marL="21590">
              <a:spcBef>
                <a:spcPts val="100"/>
              </a:spcBef>
            </a:pPr>
            <a:r>
              <a:rPr lang="en-US" altLang="zh-CN" kern="0" spc="30" dirty="0"/>
              <a:t>Install Node-RED Using Docker</a:t>
            </a:r>
            <a:endParaRPr lang="en-US" kern="0" spc="3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FAC92E1-51CE-7032-338C-25FA0EC05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1" y="3857268"/>
            <a:ext cx="9944097" cy="71473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86507E5-9F4C-D1BD-B1AF-558A9F6C5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1" y="5994559"/>
            <a:ext cx="9944097" cy="78724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C796169-1CA6-C588-FA26-4754B61FDD1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8222"/>
          <a:stretch/>
        </p:blipFill>
        <p:spPr>
          <a:xfrm>
            <a:off x="1143000" y="8128159"/>
            <a:ext cx="9944097" cy="78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106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6100" y="2378151"/>
            <a:ext cx="15240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15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sz="12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500" y="2308351"/>
            <a:ext cx="11543665" cy="4700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altLang="zh-CN" sz="2950" b="1" dirty="0">
                <a:latin typeface="Book Antiqua" panose="02040602050305030304"/>
              </a:rPr>
              <a:t>1. Pulling the Image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6350000" y="9349618"/>
            <a:ext cx="279400" cy="245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lang="en-US" dirty="0"/>
              <a:t>10</a:t>
            </a:r>
            <a:endParaRPr dirty="0"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228C0651-8374-607C-F64E-097BF19C9FE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8E3D1D3B-B720-5271-2A69-815E0B484571}"/>
              </a:ext>
            </a:extLst>
          </p:cNvPr>
          <p:cNvSpPr txBox="1">
            <a:spLocks/>
          </p:cNvSpPr>
          <p:nvPr/>
        </p:nvSpPr>
        <p:spPr>
          <a:xfrm>
            <a:off x="683301" y="838691"/>
            <a:ext cx="11892197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7000" b="0" i="0">
                <a:solidFill>
                  <a:srgbClr val="D93E2B"/>
                </a:solidFill>
                <a:latin typeface="Garamond" panose="02020404030301010803"/>
                <a:ea typeface="+mj-ea"/>
                <a:cs typeface="Garamond" panose="02020404030301010803"/>
              </a:defRPr>
            </a:lvl1pPr>
          </a:lstStyle>
          <a:p>
            <a:pPr marL="21590">
              <a:spcBef>
                <a:spcPts val="100"/>
              </a:spcBef>
            </a:pPr>
            <a:r>
              <a:rPr lang="en-US" altLang="zh-CN" kern="0" spc="30" dirty="0"/>
              <a:t>Install </a:t>
            </a:r>
            <a:r>
              <a:rPr lang="en-US" altLang="zh-CN" kern="0" spc="30" dirty="0" err="1"/>
              <a:t>mongodb</a:t>
            </a:r>
            <a:r>
              <a:rPr lang="en-US" altLang="zh-CN" kern="0" spc="30" dirty="0"/>
              <a:t> Using Docker</a:t>
            </a:r>
            <a:endParaRPr lang="en-US" kern="0" spc="3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1F04B5-68AF-5B70-D918-F3FDD1798A3E}"/>
              </a:ext>
            </a:extLst>
          </p:cNvPr>
          <p:cNvSpPr txBox="1"/>
          <p:nvPr/>
        </p:nvSpPr>
        <p:spPr>
          <a:xfrm>
            <a:off x="825500" y="2947723"/>
            <a:ext cx="10020300" cy="2161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400" dirty="0">
                <a:latin typeface="Book Antiqua" panose="02040602050305030304"/>
              </a:rPr>
              <a:t>To download the latest MongoDB image, enter the command: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sudo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docker pull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mongo:latest</a:t>
            </a:r>
            <a:endParaRPr lang="en-US" altLang="zh-CN" sz="2000" spc="-5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/>
              <a:cs typeface="Courier New" panose="02070309020205020404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400" dirty="0">
                <a:latin typeface="Book Antiqua" panose="02040602050305030304"/>
              </a:rPr>
              <a:t>After executing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sudo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docker images</a:t>
            </a:r>
            <a:r>
              <a:rPr lang="en-US" altLang="zh-CN" sz="2400" dirty="0">
                <a:latin typeface="Book Antiqua" panose="02040602050305030304"/>
              </a:rPr>
              <a:t>, you will see that the MongoDB image has been successfully pulled.</a:t>
            </a:r>
            <a:endParaRPr lang="zh-CN" altLang="en-US" sz="2400" dirty="0">
              <a:latin typeface="Book Antiqua" panose="02040602050305030304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15EF24D-C6EC-F4B3-254C-B9EE6F4898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483"/>
          <a:stretch/>
        </p:blipFill>
        <p:spPr>
          <a:xfrm>
            <a:off x="825500" y="5745452"/>
            <a:ext cx="10716866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882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6100" y="2378151"/>
            <a:ext cx="15240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15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sz="12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500" y="2308351"/>
            <a:ext cx="11543665" cy="9367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altLang="zh-CN" sz="2950" b="1" dirty="0">
                <a:latin typeface="Book Antiqua" panose="02040602050305030304"/>
              </a:rPr>
              <a:t>2. Running the MongoDB Image as a Container and Verification</a:t>
            </a:r>
          </a:p>
          <a:p>
            <a:pPr marL="12700">
              <a:spcBef>
                <a:spcPts val="135"/>
              </a:spcBef>
            </a:pPr>
            <a:endParaRPr lang="en-US" altLang="zh-CN" sz="2950" b="1" dirty="0">
              <a:latin typeface="Book Antiqua" panose="020406020503050303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6350000" y="9349618"/>
            <a:ext cx="279400" cy="245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lang="en-US" dirty="0"/>
              <a:t>1</a:t>
            </a:r>
            <a:r>
              <a:rPr lang="en-US" altLang="zh-CN" dirty="0"/>
              <a:t>1</a:t>
            </a:r>
            <a:endParaRPr dirty="0"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228C0651-8374-607C-F64E-097BF19C9FE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8E3D1D3B-B720-5271-2A69-815E0B484571}"/>
              </a:ext>
            </a:extLst>
          </p:cNvPr>
          <p:cNvSpPr txBox="1">
            <a:spLocks/>
          </p:cNvSpPr>
          <p:nvPr/>
        </p:nvSpPr>
        <p:spPr>
          <a:xfrm>
            <a:off x="683301" y="838691"/>
            <a:ext cx="11892197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7000" b="0" i="0">
                <a:solidFill>
                  <a:srgbClr val="D93E2B"/>
                </a:solidFill>
                <a:latin typeface="Garamond" panose="02020404030301010803"/>
                <a:ea typeface="+mj-ea"/>
                <a:cs typeface="Garamond" panose="02020404030301010803"/>
              </a:defRPr>
            </a:lvl1pPr>
          </a:lstStyle>
          <a:p>
            <a:pPr marL="21590">
              <a:spcBef>
                <a:spcPts val="100"/>
              </a:spcBef>
            </a:pPr>
            <a:r>
              <a:rPr lang="en-US" altLang="zh-CN" kern="0" spc="30" dirty="0"/>
              <a:t>Install </a:t>
            </a:r>
            <a:r>
              <a:rPr lang="en-US" altLang="zh-CN" kern="0" spc="30" dirty="0" err="1"/>
              <a:t>mongodb</a:t>
            </a:r>
            <a:r>
              <a:rPr lang="en-US" altLang="zh-CN" kern="0" spc="30" dirty="0"/>
              <a:t> Using Docker</a:t>
            </a:r>
            <a:endParaRPr lang="en-US" kern="0" spc="3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1F04B5-68AF-5B70-D918-F3FDD1798A3E}"/>
              </a:ext>
            </a:extLst>
          </p:cNvPr>
          <p:cNvSpPr txBox="1"/>
          <p:nvPr/>
        </p:nvSpPr>
        <p:spPr>
          <a:xfrm>
            <a:off x="825500" y="2947723"/>
            <a:ext cx="11543665" cy="4792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400" b="1" dirty="0">
                <a:latin typeface="Book Antiqua" panose="02040602050305030304"/>
              </a:rPr>
              <a:t>Create a Directory</a:t>
            </a:r>
            <a:r>
              <a:rPr lang="en-US" altLang="zh-CN" sz="2400" dirty="0">
                <a:latin typeface="Book Antiqua" panose="02040602050305030304"/>
              </a:rPr>
              <a:t>: Execute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sudo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mkdir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/opt/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mongodb</a:t>
            </a:r>
            <a:r>
              <a:rPr lang="en-US" altLang="zh-CN" sz="2400" dirty="0">
                <a:latin typeface="Book Antiqua" panose="02040602050305030304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400" b="1" dirty="0">
                <a:latin typeface="Book Antiqua" panose="02040602050305030304"/>
              </a:rPr>
              <a:t>Assign Permissions</a:t>
            </a:r>
            <a:r>
              <a:rPr lang="en-US" altLang="zh-CN" sz="2400" dirty="0">
                <a:latin typeface="Book Antiqua" panose="02040602050305030304"/>
              </a:rPr>
              <a:t>: Execute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sudo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chmod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777 /opt/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mongodb</a:t>
            </a:r>
            <a:r>
              <a:rPr lang="en-US" altLang="zh-CN" sz="2400" dirty="0">
                <a:latin typeface="Book Antiqua" panose="02040602050305030304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400" b="1" dirty="0">
                <a:latin typeface="Book Antiqua" panose="02040602050305030304"/>
              </a:rPr>
              <a:t>Run the Image</a:t>
            </a:r>
            <a:r>
              <a:rPr lang="en-US" altLang="zh-CN" sz="2400" dirty="0">
                <a:latin typeface="Book Antiqua" panose="02040602050305030304"/>
              </a:rPr>
              <a:t>:</a:t>
            </a:r>
            <a:r>
              <a:rPr lang="zh-CN" altLang="en-US" sz="2400" dirty="0">
                <a:latin typeface="Book Antiqua" panose="02040602050305030304"/>
              </a:rPr>
              <a:t>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sudo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docker run -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itd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-p 27017:27017 -v /opt/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mongodb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:/data/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db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--name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Mymongo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mongo:latest</a:t>
            </a:r>
            <a:endParaRPr lang="en-US" altLang="zh-CN" sz="2000" spc="-5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50000"/>
              </a:lnSpc>
            </a:pPr>
            <a:endParaRPr lang="en-US" altLang="zh-CN" sz="1100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Book Antiqua" panose="02040602050305030304"/>
              </a:rPr>
              <a:t>-v /opt/</a:t>
            </a:r>
            <a:r>
              <a:rPr lang="en-US" altLang="zh-CN" sz="2400" b="1" dirty="0" err="1">
                <a:latin typeface="Book Antiqua" panose="02040602050305030304"/>
              </a:rPr>
              <a:t>mongodb</a:t>
            </a:r>
            <a:r>
              <a:rPr lang="en-US" altLang="zh-CN" sz="2400" b="1" dirty="0">
                <a:latin typeface="Book Antiqua" panose="02040602050305030304"/>
              </a:rPr>
              <a:t>:/data/</a:t>
            </a:r>
            <a:r>
              <a:rPr lang="en-US" altLang="zh-CN" sz="2400" b="1" dirty="0" err="1">
                <a:latin typeface="Book Antiqua" panose="02040602050305030304"/>
              </a:rPr>
              <a:t>db</a:t>
            </a:r>
            <a:r>
              <a:rPr lang="en-US" altLang="zh-CN" sz="2400" b="1" dirty="0">
                <a:latin typeface="Book Antiqua" panose="02040602050305030304"/>
              </a:rPr>
              <a:t> </a:t>
            </a:r>
            <a:r>
              <a:rPr lang="en-US" altLang="zh-CN" sz="2400" dirty="0">
                <a:latin typeface="Book Antiqua" panose="02040602050305030304"/>
              </a:rPr>
              <a:t>mounts the host's /opt/</a:t>
            </a:r>
            <a:r>
              <a:rPr lang="en-US" altLang="zh-CN" sz="2400" dirty="0" err="1">
                <a:latin typeface="Book Antiqua" panose="02040602050305030304"/>
              </a:rPr>
              <a:t>mongodb</a:t>
            </a:r>
            <a:r>
              <a:rPr lang="en-US" altLang="zh-CN" sz="2400" dirty="0">
                <a:latin typeface="Book Antiqua" panose="02040602050305030304"/>
              </a:rPr>
              <a:t> directory to /data/</a:t>
            </a:r>
            <a:r>
              <a:rPr lang="en-US" altLang="zh-CN" sz="2400" dirty="0" err="1">
                <a:latin typeface="Book Antiqua" panose="02040602050305030304"/>
              </a:rPr>
              <a:t>db</a:t>
            </a:r>
            <a:r>
              <a:rPr lang="en-US" altLang="zh-CN" sz="2400" dirty="0">
                <a:latin typeface="Book Antiqua" panose="02040602050305030304"/>
              </a:rPr>
              <a:t> in the container.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Book Antiqua" panose="02040602050305030304"/>
              </a:rPr>
              <a:t>--name </a:t>
            </a:r>
            <a:r>
              <a:rPr lang="en-US" altLang="zh-CN" sz="2400" b="1" dirty="0" err="1">
                <a:latin typeface="Book Antiqua" panose="02040602050305030304"/>
              </a:rPr>
              <a:t>Mymongo</a:t>
            </a:r>
            <a:r>
              <a:rPr lang="en-US" altLang="zh-CN" sz="2400" b="1" dirty="0">
                <a:latin typeface="Book Antiqua" panose="02040602050305030304"/>
              </a:rPr>
              <a:t> </a:t>
            </a:r>
            <a:r>
              <a:rPr lang="en-US" altLang="zh-CN" sz="2400" dirty="0">
                <a:latin typeface="Book Antiqua" panose="02040602050305030304"/>
              </a:rPr>
              <a:t>sets the container's name to </a:t>
            </a:r>
            <a:r>
              <a:rPr lang="en-US" altLang="zh-CN" sz="2400" dirty="0" err="1">
                <a:latin typeface="Book Antiqua" panose="02040602050305030304"/>
              </a:rPr>
              <a:t>Mymongo</a:t>
            </a:r>
            <a:r>
              <a:rPr lang="en-US" altLang="zh-CN" sz="2400" dirty="0">
                <a:latin typeface="Book Antiqua" panose="02040602050305030304"/>
              </a:rPr>
              <a:t>. You can see the running container named </a:t>
            </a:r>
            <a:r>
              <a:rPr lang="en-US" altLang="zh-CN" sz="2400" dirty="0" err="1">
                <a:latin typeface="Book Antiqua" panose="02040602050305030304"/>
              </a:rPr>
              <a:t>Mymongo</a:t>
            </a:r>
            <a:r>
              <a:rPr lang="en-US" altLang="zh-CN" sz="2400" dirty="0">
                <a:latin typeface="Book Antiqua" panose="02040602050305030304"/>
              </a:rPr>
              <a:t> by executing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sudo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docker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ps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-a</a:t>
            </a:r>
            <a:r>
              <a:rPr lang="en-US" altLang="zh-CN" sz="2400" dirty="0">
                <a:latin typeface="Book Antiqua" panose="02040602050305030304"/>
              </a:rPr>
              <a:t>.</a:t>
            </a:r>
            <a:endParaRPr lang="zh-CN" altLang="en-US" sz="2400" dirty="0">
              <a:latin typeface="Book Antiqua" panose="02040602050305030304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66EDF98-F8E7-7E5C-367B-0AD0BDEB1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265" y="7925878"/>
            <a:ext cx="11391900" cy="64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176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6350000" y="9349618"/>
            <a:ext cx="279400" cy="245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lang="en-US" altLang="zh-CN" dirty="0"/>
              <a:t>12</a:t>
            </a:r>
            <a:endParaRPr dirty="0"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228C0651-8374-607C-F64E-097BF19C9FE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8E3D1D3B-B720-5271-2A69-815E0B484571}"/>
              </a:ext>
            </a:extLst>
          </p:cNvPr>
          <p:cNvSpPr txBox="1">
            <a:spLocks/>
          </p:cNvSpPr>
          <p:nvPr/>
        </p:nvSpPr>
        <p:spPr>
          <a:xfrm>
            <a:off x="683301" y="838691"/>
            <a:ext cx="11892197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7000" b="0" i="0">
                <a:solidFill>
                  <a:srgbClr val="D93E2B"/>
                </a:solidFill>
                <a:latin typeface="Garamond" panose="02020404030301010803"/>
                <a:ea typeface="+mj-ea"/>
                <a:cs typeface="Garamond" panose="02020404030301010803"/>
              </a:defRPr>
            </a:lvl1pPr>
          </a:lstStyle>
          <a:p>
            <a:pPr marL="21590">
              <a:spcBef>
                <a:spcPts val="100"/>
              </a:spcBef>
            </a:pPr>
            <a:r>
              <a:rPr lang="en-US" altLang="zh-CN" kern="0" spc="30" dirty="0"/>
              <a:t>Install </a:t>
            </a:r>
            <a:r>
              <a:rPr lang="en-US" altLang="zh-CN" kern="0" spc="30" dirty="0" err="1"/>
              <a:t>mongodb</a:t>
            </a:r>
            <a:r>
              <a:rPr lang="en-US" altLang="zh-CN" kern="0" spc="30" dirty="0"/>
              <a:t> Using Docker</a:t>
            </a:r>
            <a:endParaRPr lang="en-US" kern="0" spc="3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1F04B5-68AF-5B70-D918-F3FDD1798A3E}"/>
              </a:ext>
            </a:extLst>
          </p:cNvPr>
          <p:cNvSpPr txBox="1"/>
          <p:nvPr/>
        </p:nvSpPr>
        <p:spPr>
          <a:xfrm>
            <a:off x="657059" y="2341914"/>
            <a:ext cx="11749998" cy="613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circleNumDbPlain" startAt="4"/>
            </a:pPr>
            <a:r>
              <a:rPr lang="en-US" altLang="zh-CN" sz="2400" b="1" dirty="0">
                <a:latin typeface="Book Antiqua" panose="02040602050305030304"/>
              </a:rPr>
              <a:t>Entering the Container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Book Antiqua" panose="02040602050305030304"/>
              </a:rPr>
              <a:t>To enter the container, use the command:</a:t>
            </a:r>
            <a:r>
              <a:rPr lang="zh-CN" altLang="en-US" sz="2400" dirty="0">
                <a:latin typeface="Book Antiqua" panose="02040602050305030304"/>
              </a:rPr>
              <a:t>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sudo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docker </a:t>
            </a:r>
            <a:r>
              <a:rPr lang="en-US" altLang="zh-CN" sz="2000" spc="-5" dirty="0">
                <a:solidFill>
                  <a:schemeClr val="accent6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exec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-it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Mymongo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/bin/bash</a:t>
            </a:r>
          </a:p>
          <a:p>
            <a:pPr>
              <a:lnSpc>
                <a:spcPct val="150000"/>
              </a:lnSpc>
            </a:pPr>
            <a:endParaRPr lang="en-US" altLang="zh-CN" sz="2400" dirty="0">
              <a:latin typeface="Book Antiqua" panose="02040602050305030304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Book Antiqua" panose="02040602050305030304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Book Antiqua" panose="02040602050305030304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Book Antiqua" panose="02040602050305030304"/>
              </a:rPr>
              <a:t>Then, start the MongoDB shell by entering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mongosh</a:t>
            </a:r>
            <a:r>
              <a:rPr lang="en-US" altLang="zh-CN" sz="2400" dirty="0">
                <a:latin typeface="Book Antiqua" panose="02040602050305030304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zh-CN" sz="2400" dirty="0">
              <a:latin typeface="Book Antiqua" panose="02040602050305030304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Book Antiqua" panose="02040602050305030304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Book Antiqua" panose="02040602050305030304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Book Antiqua" panose="02040602050305030304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Book Antiqua" panose="02040602050305030304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86C5046-D908-15A4-0673-9CE6CD6B05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6963"/>
          <a:stretch/>
        </p:blipFill>
        <p:spPr>
          <a:xfrm>
            <a:off x="850692" y="3810000"/>
            <a:ext cx="7772400" cy="9075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9AFAEEE-8DBB-F420-795C-9EF759A12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13" y="5950615"/>
            <a:ext cx="11060855" cy="251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794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6350000" y="9349618"/>
            <a:ext cx="279400" cy="245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lang="en-US" altLang="zh-CN" dirty="0"/>
              <a:t>13</a:t>
            </a:r>
            <a:endParaRPr dirty="0"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228C0651-8374-607C-F64E-097BF19C9FE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8E3D1D3B-B720-5271-2A69-815E0B484571}"/>
              </a:ext>
            </a:extLst>
          </p:cNvPr>
          <p:cNvSpPr txBox="1">
            <a:spLocks/>
          </p:cNvSpPr>
          <p:nvPr/>
        </p:nvSpPr>
        <p:spPr>
          <a:xfrm>
            <a:off x="683301" y="838691"/>
            <a:ext cx="11892197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7000" b="0" i="0">
                <a:solidFill>
                  <a:srgbClr val="D93E2B"/>
                </a:solidFill>
                <a:latin typeface="Garamond" panose="02020404030301010803"/>
                <a:ea typeface="+mj-ea"/>
                <a:cs typeface="Garamond" panose="02020404030301010803"/>
              </a:defRPr>
            </a:lvl1pPr>
          </a:lstStyle>
          <a:p>
            <a:pPr marL="21590">
              <a:spcBef>
                <a:spcPts val="100"/>
              </a:spcBef>
            </a:pPr>
            <a:r>
              <a:rPr lang="en-US" altLang="zh-CN" kern="0" spc="30" dirty="0"/>
              <a:t>Install </a:t>
            </a:r>
            <a:r>
              <a:rPr lang="en-US" altLang="zh-CN" kern="0" spc="30" dirty="0" err="1"/>
              <a:t>mongodb</a:t>
            </a:r>
            <a:r>
              <a:rPr lang="en-US" altLang="zh-CN" kern="0" spc="30" dirty="0"/>
              <a:t> Using Docker</a:t>
            </a:r>
            <a:endParaRPr lang="en-US" kern="0" spc="3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1F04B5-68AF-5B70-D918-F3FDD1798A3E}"/>
              </a:ext>
            </a:extLst>
          </p:cNvPr>
          <p:cNvSpPr txBox="1"/>
          <p:nvPr/>
        </p:nvSpPr>
        <p:spPr>
          <a:xfrm>
            <a:off x="825500" y="2286000"/>
            <a:ext cx="11749998" cy="3915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Book Antiqua" panose="02040602050305030304"/>
              </a:rPr>
              <a:t>Create an admin user with the following commands:</a:t>
            </a:r>
            <a:r>
              <a:rPr lang="zh-CN" altLang="en-US" sz="2400" dirty="0">
                <a:latin typeface="Book Antiqua" panose="02040602050305030304"/>
              </a:rPr>
              <a:t> </a:t>
            </a:r>
            <a:endParaRPr lang="en-US" altLang="zh-CN" sz="2400" dirty="0">
              <a:latin typeface="Book Antiqua" panose="02040602050305030304"/>
            </a:endParaRPr>
          </a:p>
          <a:p>
            <a:pPr lvl="5"/>
            <a:endParaRPr lang="en-US" altLang="zh-CN" sz="2000" spc="-5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/>
              <a:cs typeface="Courier New" panose="02070309020205020404"/>
            </a:endParaRPr>
          </a:p>
          <a:p>
            <a:pPr lvl="5"/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use admin</a:t>
            </a:r>
          </a:p>
          <a:p>
            <a:pPr lvl="5"/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db.createUser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(</a:t>
            </a:r>
          </a:p>
          <a:p>
            <a:pPr lvl="5"/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{</a:t>
            </a:r>
          </a:p>
          <a:p>
            <a:pPr lvl="5"/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user: "admin",</a:t>
            </a:r>
          </a:p>
          <a:p>
            <a:pPr lvl="5"/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pwd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: " 666712",</a:t>
            </a:r>
          </a:p>
          <a:p>
            <a:pPr lvl="5"/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 roles: [ { role: "root",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db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: "admin" } ]</a:t>
            </a:r>
          </a:p>
          <a:p>
            <a:pPr lvl="5"/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}</a:t>
            </a:r>
          </a:p>
          <a:p>
            <a:pPr lvl="5"/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);</a:t>
            </a:r>
            <a:r>
              <a:rPr lang="zh-CN" altLang="en-US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                 </a:t>
            </a:r>
            <a:endParaRPr lang="en-US" altLang="zh-CN" sz="2000" spc="-5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Book Antiqua" panose="02040602050305030304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E5FAD30-0474-4AE3-BD2E-F41903E76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6172200"/>
            <a:ext cx="1071418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598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6350000" y="9349618"/>
            <a:ext cx="279400" cy="245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lang="en-US" altLang="zh-CN" dirty="0"/>
              <a:t>14</a:t>
            </a:r>
            <a:endParaRPr dirty="0"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228C0651-8374-607C-F64E-097BF19C9FE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8E3D1D3B-B720-5271-2A69-815E0B484571}"/>
              </a:ext>
            </a:extLst>
          </p:cNvPr>
          <p:cNvSpPr txBox="1">
            <a:spLocks/>
          </p:cNvSpPr>
          <p:nvPr/>
        </p:nvSpPr>
        <p:spPr>
          <a:xfrm>
            <a:off x="683301" y="838691"/>
            <a:ext cx="11892197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7000" b="0" i="0">
                <a:solidFill>
                  <a:srgbClr val="D93E2B"/>
                </a:solidFill>
                <a:latin typeface="Garamond" panose="02020404030301010803"/>
                <a:ea typeface="+mj-ea"/>
                <a:cs typeface="Garamond" panose="02020404030301010803"/>
              </a:defRPr>
            </a:lvl1pPr>
          </a:lstStyle>
          <a:p>
            <a:pPr marL="21590">
              <a:spcBef>
                <a:spcPts val="100"/>
              </a:spcBef>
            </a:pPr>
            <a:r>
              <a:rPr lang="en-US" altLang="zh-CN" kern="0" spc="30" dirty="0"/>
              <a:t>Install </a:t>
            </a:r>
            <a:r>
              <a:rPr lang="en-US" altLang="zh-CN" kern="0" spc="30" dirty="0" err="1"/>
              <a:t>mongodb</a:t>
            </a:r>
            <a:r>
              <a:rPr lang="en-US" altLang="zh-CN" kern="0" spc="30" dirty="0"/>
              <a:t> Using Docker</a:t>
            </a:r>
            <a:endParaRPr lang="en-US" kern="0" spc="3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1F04B5-68AF-5B70-D918-F3FDD1798A3E}"/>
              </a:ext>
            </a:extLst>
          </p:cNvPr>
          <p:cNvSpPr txBox="1"/>
          <p:nvPr/>
        </p:nvSpPr>
        <p:spPr>
          <a:xfrm>
            <a:off x="1168400" y="2203720"/>
            <a:ext cx="11749998" cy="591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Book Antiqua" panose="02040602050305030304"/>
              </a:rPr>
              <a:t>To exit the MongoDB shell, type exit, then type exit again to leave the container.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F1ED185-B937-F025-0891-0FD8C62D3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00" y="2926038"/>
            <a:ext cx="3190240" cy="8839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6F5CAAF-7A57-3970-BCA5-2653A38179A5}"/>
              </a:ext>
            </a:extLst>
          </p:cNvPr>
          <p:cNvSpPr txBox="1"/>
          <p:nvPr/>
        </p:nvSpPr>
        <p:spPr>
          <a:xfrm>
            <a:off x="1168400" y="3886200"/>
            <a:ext cx="11749998" cy="169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Book Antiqua" panose="02040602050305030304"/>
              </a:rPr>
              <a:t>To connect to MongoDB within the container, use: 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mongo --port 27017 -u admin -p 666712 --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authenticationDatabase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 admin</a:t>
            </a:r>
            <a:r>
              <a:rPr lang="en-US" altLang="zh-CN" sz="2400" dirty="0"/>
              <a:t>. </a:t>
            </a:r>
            <a:r>
              <a:rPr lang="en-US" altLang="zh-CN" sz="2400" dirty="0">
                <a:latin typeface="Book Antiqua" panose="02040602050305030304"/>
              </a:rPr>
              <a:t>After connecting, entering </a:t>
            </a:r>
            <a:r>
              <a:rPr lang="en-US" altLang="zh-CN" sz="2000" spc="-5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show </a:t>
            </a:r>
            <a:r>
              <a:rPr lang="en-US" altLang="zh-CN" sz="2000" spc="-5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/>
                <a:cs typeface="Courier New" panose="02070309020205020404"/>
              </a:rPr>
              <a:t>dbs</a:t>
            </a:r>
            <a:r>
              <a:rPr lang="en-US" altLang="zh-CN" sz="2000" spc="-5" dirty="0">
                <a:solidFill>
                  <a:schemeClr val="bg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400" dirty="0">
                <a:latin typeface="Book Antiqua" panose="02040602050305030304"/>
              </a:rPr>
              <a:t>will display the databases, including the admin database you created.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9F66C38-3FCB-B7B9-ACD4-33F30845A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600" y="5680217"/>
            <a:ext cx="11046691" cy="3475104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33CABBAE-AA22-61BE-67B6-061ED79D8953}"/>
              </a:ext>
            </a:extLst>
          </p:cNvPr>
          <p:cNvSpPr txBox="1"/>
          <p:nvPr/>
        </p:nvSpPr>
        <p:spPr>
          <a:xfrm>
            <a:off x="849630" y="2438400"/>
            <a:ext cx="159385" cy="2298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300" spc="30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sz="1300" dirty="0">
              <a:latin typeface="Arial Unicode MS"/>
              <a:cs typeface="Arial Unicode MS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791B3E3F-23AB-4C55-11BF-414821C4078E}"/>
              </a:ext>
            </a:extLst>
          </p:cNvPr>
          <p:cNvSpPr txBox="1"/>
          <p:nvPr/>
        </p:nvSpPr>
        <p:spPr>
          <a:xfrm>
            <a:off x="856615" y="4113530"/>
            <a:ext cx="159385" cy="2298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300" spc="30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sz="1300" dirty="0">
              <a:latin typeface="Arial Unicode MS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29778625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000" y="1045210"/>
            <a:ext cx="11732260" cy="676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250" spc="-15" dirty="0"/>
              <a:t>Installing</a:t>
            </a:r>
            <a:r>
              <a:rPr sz="4250" spc="-275" dirty="0"/>
              <a:t> </a:t>
            </a:r>
            <a:r>
              <a:rPr sz="4250" spc="-135" dirty="0"/>
              <a:t>MongoDB</a:t>
            </a:r>
            <a:r>
              <a:rPr sz="4250" spc="-275" dirty="0"/>
              <a:t> </a:t>
            </a:r>
            <a:r>
              <a:rPr sz="4250" spc="-70" dirty="0"/>
              <a:t>and</a:t>
            </a:r>
            <a:r>
              <a:rPr sz="4250" spc="-275" dirty="0"/>
              <a:t> </a:t>
            </a:r>
            <a:r>
              <a:rPr sz="4250" spc="-80" dirty="0"/>
              <a:t>Dashboard</a:t>
            </a:r>
            <a:r>
              <a:rPr sz="4250" spc="-275" dirty="0"/>
              <a:t> </a:t>
            </a:r>
            <a:r>
              <a:rPr sz="4250" spc="-65" dirty="0"/>
              <a:t>Modules</a:t>
            </a:r>
            <a:r>
              <a:rPr sz="4250" spc="-275" dirty="0"/>
              <a:t> </a:t>
            </a:r>
            <a:r>
              <a:rPr sz="4250" spc="5" dirty="0"/>
              <a:t>in</a:t>
            </a:r>
            <a:r>
              <a:rPr sz="4250" spc="-275" dirty="0"/>
              <a:t> </a:t>
            </a:r>
            <a:r>
              <a:rPr sz="4250" spc="-114" dirty="0"/>
              <a:t>NodeRed</a:t>
            </a:r>
            <a:endParaRPr sz="4250"/>
          </a:p>
        </p:txBody>
      </p:sp>
      <p:sp>
        <p:nvSpPr>
          <p:cNvPr id="3" name="object 3"/>
          <p:cNvSpPr txBox="1"/>
          <p:nvPr/>
        </p:nvSpPr>
        <p:spPr>
          <a:xfrm>
            <a:off x="546100" y="2579726"/>
            <a:ext cx="159385" cy="2298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300" spc="30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6100" y="3138526"/>
            <a:ext cx="159385" cy="2298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300" spc="30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8200" y="2504440"/>
            <a:ext cx="6999605" cy="924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Use </a:t>
            </a:r>
            <a:r>
              <a:rPr sz="2200" spc="1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a </a:t>
            </a:r>
            <a:r>
              <a:rPr sz="2200" spc="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browser </a:t>
            </a:r>
            <a:r>
              <a:rPr sz="2200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to access the </a:t>
            </a:r>
            <a:r>
              <a:rPr sz="2200" spc="1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URL: </a:t>
            </a:r>
            <a:r>
              <a:rPr sz="2200" u="heavy" spc="10" dirty="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Book Antiqua" panose="02040602050305030304"/>
                <a:cs typeface="Book Antiqua" panose="02040602050305030304"/>
              </a:rPr>
              <a:t>http://localhost:1880</a:t>
            </a:r>
            <a:endParaRPr sz="2200" dirty="0">
              <a:latin typeface="Book Antiqua" panose="02040602050305030304"/>
              <a:cs typeface="Book Antiqua" panose="02040602050305030304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sz="2200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Click the </a:t>
            </a:r>
            <a:r>
              <a:rPr sz="2200" spc="1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top </a:t>
            </a:r>
            <a:r>
              <a:rPr sz="2200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right icon, select </a:t>
            </a:r>
            <a:r>
              <a:rPr sz="2200" spc="1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and </a:t>
            </a:r>
            <a:r>
              <a:rPr sz="2200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click </a:t>
            </a:r>
            <a:r>
              <a:rPr sz="2200" b="1" spc="1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Manage</a:t>
            </a:r>
            <a:r>
              <a:rPr sz="2200" b="1" spc="-2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sz="2200" b="1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Palette</a:t>
            </a:r>
            <a:endParaRPr sz="2200" dirty="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6350000" y="9349618"/>
            <a:ext cx="27940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lang="en-US" altLang="zh-CN" dirty="0"/>
              <a:t>15</a:t>
            </a:r>
            <a:endParaRPr lang="en-US" dirty="0"/>
          </a:p>
        </p:txBody>
      </p:sp>
      <p:pic>
        <p:nvPicPr>
          <p:cNvPr id="13" name="图片 12" descr="屏幕截图(2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00" y="3657600"/>
            <a:ext cx="10692130" cy="5557520"/>
          </a:xfrm>
          <a:prstGeom prst="rect">
            <a:avLst/>
          </a:prstGeom>
        </p:spPr>
      </p:pic>
      <p:sp>
        <p:nvSpPr>
          <p:cNvPr id="6" name="object 9">
            <a:extLst>
              <a:ext uri="{FF2B5EF4-FFF2-40B4-BE49-F238E27FC236}">
                <a16:creationId xmlns:a16="http://schemas.microsoft.com/office/drawing/2014/main" id="{A35DE5B1-2387-D5EE-82AB-7A17370CE05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000" y="1045210"/>
            <a:ext cx="11732260" cy="676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250" spc="-15" dirty="0"/>
              <a:t>Installing</a:t>
            </a:r>
            <a:r>
              <a:rPr sz="4250" spc="-275" dirty="0"/>
              <a:t> </a:t>
            </a:r>
            <a:r>
              <a:rPr sz="4250" spc="-135" dirty="0"/>
              <a:t>MongoDB</a:t>
            </a:r>
            <a:r>
              <a:rPr sz="4250" spc="-275" dirty="0"/>
              <a:t> </a:t>
            </a:r>
            <a:r>
              <a:rPr sz="4250" spc="-70" dirty="0"/>
              <a:t>and</a:t>
            </a:r>
            <a:r>
              <a:rPr sz="4250" spc="-275" dirty="0"/>
              <a:t> </a:t>
            </a:r>
            <a:r>
              <a:rPr sz="4250" spc="-80" dirty="0"/>
              <a:t>Dashboard</a:t>
            </a:r>
            <a:r>
              <a:rPr sz="4250" spc="-275" dirty="0"/>
              <a:t> </a:t>
            </a:r>
            <a:r>
              <a:rPr sz="4250" spc="-65" dirty="0"/>
              <a:t>Modules</a:t>
            </a:r>
            <a:r>
              <a:rPr sz="4250" spc="-275" dirty="0"/>
              <a:t> </a:t>
            </a:r>
            <a:r>
              <a:rPr sz="4250" spc="5" dirty="0"/>
              <a:t>in</a:t>
            </a:r>
            <a:r>
              <a:rPr sz="4250" spc="-275" dirty="0"/>
              <a:t> </a:t>
            </a:r>
            <a:r>
              <a:rPr sz="4250" spc="-114" dirty="0"/>
              <a:t>NodeRed</a:t>
            </a:r>
            <a:endParaRPr sz="4250"/>
          </a:p>
        </p:txBody>
      </p:sp>
      <p:sp>
        <p:nvSpPr>
          <p:cNvPr id="3" name="object 3"/>
          <p:cNvSpPr txBox="1"/>
          <p:nvPr/>
        </p:nvSpPr>
        <p:spPr>
          <a:xfrm>
            <a:off x="482600" y="2695545"/>
            <a:ext cx="122555" cy="20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15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sz="1200" dirty="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2600" y="3127755"/>
            <a:ext cx="122555" cy="20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15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sz="1200" dirty="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2000" y="2543048"/>
            <a:ext cx="11604625" cy="1216487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000" spc="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Select the Install </a:t>
            </a:r>
            <a:r>
              <a:rPr sz="2000" spc="-3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Tab, </a:t>
            </a:r>
            <a:r>
              <a:rPr sz="2000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and </a:t>
            </a:r>
            <a:r>
              <a:rPr sz="2000" spc="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input </a:t>
            </a:r>
            <a:r>
              <a:rPr sz="2000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MongoDB </a:t>
            </a:r>
            <a:r>
              <a:rPr sz="2000" spc="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in the </a:t>
            </a:r>
            <a:r>
              <a:rPr sz="200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search field.</a:t>
            </a:r>
            <a:endParaRPr sz="2000" dirty="0">
              <a:latin typeface="Book Antiqua" panose="02040602050305030304"/>
              <a:cs typeface="Book Antiqua" panose="02040602050305030304"/>
            </a:endParaRPr>
          </a:p>
          <a:p>
            <a:pPr marL="12700" marR="5080">
              <a:lnSpc>
                <a:spcPct val="104000"/>
              </a:lnSpc>
              <a:spcBef>
                <a:spcPts val="1000"/>
              </a:spcBef>
            </a:pPr>
            <a:r>
              <a:rPr sz="200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Scroll </a:t>
            </a:r>
            <a:r>
              <a:rPr sz="2000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down and </a:t>
            </a:r>
            <a:r>
              <a:rPr sz="2000" spc="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locate the </a:t>
            </a:r>
            <a:r>
              <a:rPr sz="200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row </a:t>
            </a:r>
            <a:r>
              <a:rPr sz="2000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with </a:t>
            </a:r>
            <a:r>
              <a:rPr sz="2000" b="1" spc="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node-red-contrib-mongodb3</a:t>
            </a:r>
            <a:r>
              <a:rPr sz="2000" spc="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, </a:t>
            </a:r>
            <a:r>
              <a:rPr sz="2000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and </a:t>
            </a:r>
            <a:r>
              <a:rPr sz="2000" spc="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click I</a:t>
            </a:r>
            <a:r>
              <a:rPr sz="2000" b="1" spc="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nstall </a:t>
            </a:r>
            <a:r>
              <a:rPr sz="2000" spc="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button, </a:t>
            </a:r>
            <a:r>
              <a:rPr sz="2000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and </a:t>
            </a:r>
            <a:r>
              <a:rPr sz="2000" spc="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click </a:t>
            </a:r>
            <a:r>
              <a:rPr sz="2000" b="1" spc="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Install </a:t>
            </a:r>
            <a:r>
              <a:rPr sz="2000" spc="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button again in the  </a:t>
            </a:r>
            <a:r>
              <a:rPr sz="2000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pop-up</a:t>
            </a:r>
            <a:r>
              <a:rPr sz="200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sz="2000" spc="-1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window.</a:t>
            </a:r>
            <a:endParaRPr sz="2000" dirty="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6350000" y="9349618"/>
            <a:ext cx="27940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lang="en-US" altLang="zh-CN" dirty="0"/>
              <a:t>16</a:t>
            </a:r>
            <a:endParaRPr lang="en-US" dirty="0"/>
          </a:p>
        </p:txBody>
      </p:sp>
      <p:pic>
        <p:nvPicPr>
          <p:cNvPr id="16" name="图片 15" descr="屏幕截图(2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00" y="3962400"/>
            <a:ext cx="9463405" cy="4884420"/>
          </a:xfrm>
          <a:prstGeom prst="rect">
            <a:avLst/>
          </a:prstGeom>
        </p:spPr>
      </p:pic>
      <p:sp>
        <p:nvSpPr>
          <p:cNvPr id="6" name="object 9">
            <a:extLst>
              <a:ext uri="{FF2B5EF4-FFF2-40B4-BE49-F238E27FC236}">
                <a16:creationId xmlns:a16="http://schemas.microsoft.com/office/drawing/2014/main" id="{A0742A69-020D-7A0B-1218-ED27673236C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1800" y="812800"/>
            <a:ext cx="7070725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Accessing</a:t>
            </a:r>
            <a:r>
              <a:rPr spc="-530" dirty="0"/>
              <a:t> </a:t>
            </a:r>
            <a:r>
              <a:rPr spc="-240" dirty="0"/>
              <a:t>MongoDB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100" y="2589886"/>
            <a:ext cx="159385" cy="2298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300" spc="30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8200" y="2514600"/>
            <a:ext cx="1149096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Once connected, </a:t>
            </a:r>
            <a:r>
              <a:rPr sz="2200" spc="1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you </a:t>
            </a:r>
            <a:r>
              <a:rPr sz="2200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should be able to </a:t>
            </a:r>
            <a:r>
              <a:rPr sz="2200" spc="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browse </a:t>
            </a:r>
            <a:r>
              <a:rPr sz="2200" spc="1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your </a:t>
            </a:r>
            <a:r>
              <a:rPr sz="2200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data </a:t>
            </a:r>
            <a:r>
              <a:rPr sz="2200" spc="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stored </a:t>
            </a:r>
            <a:r>
              <a:rPr sz="2200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in </a:t>
            </a:r>
            <a:r>
              <a:rPr sz="2200" spc="1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your MongoDB</a:t>
            </a:r>
            <a:r>
              <a:rPr sz="2200" spc="4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sz="2200" spc="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instance.</a:t>
            </a:r>
            <a:endParaRPr sz="2200" dirty="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34433" y="2819400"/>
            <a:ext cx="10735933" cy="67488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6350000" y="9349618"/>
            <a:ext cx="27940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lang="en-US" altLang="zh-CN" dirty="0"/>
              <a:t>17</a:t>
            </a: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650F4C50-6AB5-C639-5C6B-415BE516379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9900" y="812800"/>
            <a:ext cx="953516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Node-Red </a:t>
            </a:r>
            <a:r>
              <a:rPr spc="-195" dirty="0"/>
              <a:t>Example</a:t>
            </a:r>
            <a:r>
              <a:rPr spc="-765" dirty="0"/>
              <a:t> </a:t>
            </a:r>
            <a:r>
              <a:rPr spc="-140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100" y="2774289"/>
            <a:ext cx="180340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sz="15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9000" y="2656636"/>
            <a:ext cx="10781030" cy="88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000"/>
              </a:lnSpc>
              <a:spcBef>
                <a:spcPts val="100"/>
              </a:spcBef>
            </a:pPr>
            <a:r>
              <a:rPr sz="2600" spc="-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Download the the </a:t>
            </a:r>
            <a:r>
              <a:rPr sz="2600" spc="-3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HKO.Flow.txt </a:t>
            </a:r>
            <a:r>
              <a:rPr sz="2600" spc="-2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file from </a:t>
            </a:r>
            <a:r>
              <a:rPr sz="2600" spc="-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moodle, </a:t>
            </a:r>
            <a:r>
              <a:rPr sz="2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and </a:t>
            </a:r>
            <a:r>
              <a:rPr sz="2600" spc="-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import </a:t>
            </a:r>
            <a:r>
              <a:rPr sz="2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it into </a:t>
            </a:r>
            <a:r>
              <a:rPr sz="2600" spc="-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your  NodeRed environment:</a:t>
            </a:r>
            <a:endParaRPr sz="26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50912" y="3456226"/>
            <a:ext cx="10214650" cy="60137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781605" y="4064308"/>
            <a:ext cx="287020" cy="262255"/>
          </a:xfrm>
          <a:custGeom>
            <a:avLst/>
            <a:gdLst/>
            <a:ahLst/>
            <a:cxnLst/>
            <a:rect l="l" t="t" r="r" b="b"/>
            <a:pathLst>
              <a:path w="287020" h="262254">
                <a:moveTo>
                  <a:pt x="0" y="0"/>
                </a:moveTo>
                <a:lnTo>
                  <a:pt x="286662" y="0"/>
                </a:lnTo>
                <a:lnTo>
                  <a:pt x="286662" y="261634"/>
                </a:lnTo>
                <a:lnTo>
                  <a:pt x="0" y="261634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FF2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537786" y="4638049"/>
            <a:ext cx="1554480" cy="172720"/>
          </a:xfrm>
          <a:custGeom>
            <a:avLst/>
            <a:gdLst/>
            <a:ahLst/>
            <a:cxnLst/>
            <a:rect l="l" t="t" r="r" b="b"/>
            <a:pathLst>
              <a:path w="1554479" h="172720">
                <a:moveTo>
                  <a:pt x="0" y="0"/>
                </a:moveTo>
                <a:lnTo>
                  <a:pt x="1554206" y="0"/>
                </a:lnTo>
                <a:lnTo>
                  <a:pt x="1554206" y="172326"/>
                </a:lnTo>
                <a:lnTo>
                  <a:pt x="0" y="172326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FF2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163300" y="3827779"/>
            <a:ext cx="165100" cy="1066800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200" b="1" dirty="0">
                <a:solidFill>
                  <a:srgbClr val="FF2600"/>
                </a:solidFill>
                <a:latin typeface="Book Antiqua" panose="02040602050305030304"/>
                <a:cs typeface="Book Antiqua" panose="02040602050305030304"/>
              </a:rPr>
              <a:t>1</a:t>
            </a:r>
            <a:endParaRPr sz="2200">
              <a:latin typeface="Book Antiqua" panose="02040602050305030304"/>
              <a:cs typeface="Book Antiqua" panose="02040602050305030304"/>
            </a:endParaRPr>
          </a:p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200" b="1" dirty="0">
                <a:solidFill>
                  <a:srgbClr val="FF2600"/>
                </a:solidFill>
                <a:latin typeface="Book Antiqua" panose="02040602050305030304"/>
                <a:cs typeface="Book Antiqua" panose="02040602050305030304"/>
              </a:rPr>
              <a:t>2</a:t>
            </a:r>
            <a:endParaRPr sz="22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6350000" y="9349618"/>
            <a:ext cx="27940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lang="en-US" altLang="zh-CN" dirty="0"/>
              <a:t>18</a:t>
            </a:r>
            <a:endParaRPr lang="en-US" dirty="0"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134C582A-0A8D-CF32-F182-24C201EF6C8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6451" y="3200400"/>
            <a:ext cx="10843572" cy="63840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39900" y="812800"/>
            <a:ext cx="953516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Node-Red </a:t>
            </a:r>
            <a:r>
              <a:rPr spc="-195" dirty="0"/>
              <a:t>Example</a:t>
            </a:r>
            <a:r>
              <a:rPr spc="-765" dirty="0"/>
              <a:t> </a:t>
            </a:r>
            <a:r>
              <a:rPr spc="-140" dirty="0"/>
              <a:t>Program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6100" y="2556053"/>
            <a:ext cx="180340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sz="155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9000" y="2438400"/>
            <a:ext cx="10984230" cy="88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000"/>
              </a:lnSpc>
              <a:spcBef>
                <a:spcPts val="100"/>
              </a:spcBef>
            </a:pPr>
            <a:r>
              <a:rPr sz="2600" spc="-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Download the the </a:t>
            </a:r>
            <a:r>
              <a:rPr sz="2600" spc="-2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HKO.Flow.json </a:t>
            </a:r>
            <a:r>
              <a:rPr sz="2600" spc="-2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file from </a:t>
            </a:r>
            <a:r>
              <a:rPr sz="2600" spc="-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moodle, </a:t>
            </a:r>
            <a:r>
              <a:rPr sz="2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and </a:t>
            </a:r>
            <a:r>
              <a:rPr sz="2600" spc="-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import </a:t>
            </a:r>
            <a:r>
              <a:rPr sz="2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it into </a:t>
            </a:r>
            <a:r>
              <a:rPr sz="2600" spc="-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your  NodeRed environment:</a:t>
            </a:r>
            <a:endParaRPr sz="2600" dirty="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25722" y="5136325"/>
            <a:ext cx="1112520" cy="273685"/>
          </a:xfrm>
          <a:custGeom>
            <a:avLst/>
            <a:gdLst/>
            <a:ahLst/>
            <a:cxnLst/>
            <a:rect l="l" t="t" r="r" b="b"/>
            <a:pathLst>
              <a:path w="1112520" h="273685">
                <a:moveTo>
                  <a:pt x="0" y="0"/>
                </a:moveTo>
                <a:lnTo>
                  <a:pt x="1112025" y="0"/>
                </a:lnTo>
                <a:lnTo>
                  <a:pt x="1112025" y="273579"/>
                </a:lnTo>
                <a:lnTo>
                  <a:pt x="0" y="273579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2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08844" y="8223156"/>
            <a:ext cx="637540" cy="381000"/>
          </a:xfrm>
          <a:custGeom>
            <a:avLst/>
            <a:gdLst/>
            <a:ahLst/>
            <a:cxnLst/>
            <a:rect l="l" t="t" r="r" b="b"/>
            <a:pathLst>
              <a:path w="637540" h="381000">
                <a:moveTo>
                  <a:pt x="0" y="0"/>
                </a:moveTo>
                <a:lnTo>
                  <a:pt x="637404" y="0"/>
                </a:lnTo>
                <a:lnTo>
                  <a:pt x="637404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2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61200" y="5092700"/>
            <a:ext cx="16510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solidFill>
                  <a:srgbClr val="FF2600"/>
                </a:solidFill>
                <a:latin typeface="Book Antiqua" panose="02040602050305030304"/>
                <a:cs typeface="Book Antiqua" panose="02040602050305030304"/>
              </a:rPr>
              <a:t>1</a:t>
            </a:r>
            <a:endParaRPr sz="22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6350000" y="9349618"/>
            <a:ext cx="27940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lang="en-US" altLang="zh-CN" dirty="0"/>
              <a:t>19</a:t>
            </a:r>
            <a:endParaRPr lang="en-US" dirty="0"/>
          </a:p>
        </p:txBody>
      </p:sp>
      <p:sp>
        <p:nvSpPr>
          <p:cNvPr id="9" name="object 9"/>
          <p:cNvSpPr txBox="1"/>
          <p:nvPr/>
        </p:nvSpPr>
        <p:spPr>
          <a:xfrm>
            <a:off x="8712200" y="8229600"/>
            <a:ext cx="16510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solidFill>
                  <a:srgbClr val="FF2600"/>
                </a:solidFill>
                <a:latin typeface="Book Antiqua" panose="02040602050305030304"/>
                <a:cs typeface="Book Antiqua" panose="02040602050305030304"/>
              </a:rPr>
              <a:t>2</a:t>
            </a:r>
            <a:endParaRPr sz="22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4E2A0517-D9DF-F13C-D3C4-23E85B94A86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8338" y="2819400"/>
            <a:ext cx="11479797" cy="6513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39900" y="812800"/>
            <a:ext cx="953516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Node-Red </a:t>
            </a:r>
            <a:r>
              <a:rPr spc="-195" dirty="0"/>
              <a:t>Example</a:t>
            </a:r>
            <a:r>
              <a:rPr spc="-765" dirty="0"/>
              <a:t> </a:t>
            </a:r>
            <a:r>
              <a:rPr spc="-140" dirty="0"/>
              <a:t>Program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2935" y="2529490"/>
            <a:ext cx="24066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5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dirty="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2200" y="2438400"/>
            <a:ext cx="924623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After importing the </a:t>
            </a:r>
            <a:r>
              <a:rPr sz="2800" spc="-8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flow, </a:t>
            </a:r>
            <a:r>
              <a:rPr sz="28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click </a:t>
            </a:r>
            <a:r>
              <a:rPr sz="2800" b="1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Deploy</a:t>
            </a:r>
            <a:r>
              <a:rPr sz="2800" b="1" spc="10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sz="28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button</a:t>
            </a:r>
            <a:endParaRPr sz="2800" dirty="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142593" y="3926156"/>
            <a:ext cx="1148715" cy="381000"/>
          </a:xfrm>
          <a:custGeom>
            <a:avLst/>
            <a:gdLst/>
            <a:ahLst/>
            <a:cxnLst/>
            <a:rect l="l" t="t" r="r" b="b"/>
            <a:pathLst>
              <a:path w="1148715" h="381000">
                <a:moveTo>
                  <a:pt x="0" y="0"/>
                </a:moveTo>
                <a:lnTo>
                  <a:pt x="1148220" y="0"/>
                </a:lnTo>
                <a:lnTo>
                  <a:pt x="114822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2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6350000" y="9349618"/>
            <a:ext cx="27940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dirty="0"/>
              <a:t>2</a:t>
            </a:r>
            <a:r>
              <a:rPr lang="en-US" altLang="zh-CN" dirty="0"/>
              <a:t>0</a:t>
            </a:r>
            <a:endParaRPr lang="en-US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11E1493-6E0B-C5AE-0121-4AAE4E4531A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9900" y="812800"/>
            <a:ext cx="953516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Node-Red </a:t>
            </a:r>
            <a:r>
              <a:rPr spc="-195" dirty="0"/>
              <a:t>Example</a:t>
            </a:r>
            <a:r>
              <a:rPr spc="-765" dirty="0"/>
              <a:t> </a:t>
            </a:r>
            <a:r>
              <a:rPr spc="-140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100" y="2501392"/>
            <a:ext cx="1657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0900" y="2408935"/>
            <a:ext cx="1119314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000"/>
              </a:lnSpc>
              <a:spcBef>
                <a:spcPts val="100"/>
              </a:spcBef>
            </a:pPr>
            <a:r>
              <a:rPr sz="2350" spc="-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After deployment, you can </a:t>
            </a:r>
            <a:r>
              <a:rPr sz="235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let </a:t>
            </a:r>
            <a:r>
              <a:rPr sz="2350" spc="-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the </a:t>
            </a:r>
            <a:r>
              <a:rPr sz="2350" spc="-1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node-red </a:t>
            </a:r>
            <a:r>
              <a:rPr sz="2350" spc="-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instance </a:t>
            </a:r>
            <a:r>
              <a:rPr sz="235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to </a:t>
            </a:r>
            <a:r>
              <a:rPr sz="2350" spc="-1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run </a:t>
            </a:r>
            <a:r>
              <a:rPr sz="2350" spc="-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for </a:t>
            </a:r>
            <a:r>
              <a:rPr sz="235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a </a:t>
            </a:r>
            <a:r>
              <a:rPr sz="2350" spc="-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couple </a:t>
            </a:r>
            <a:r>
              <a:rPr sz="235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of </a:t>
            </a:r>
            <a:r>
              <a:rPr sz="2350" spc="-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hours, and  then launch another </a:t>
            </a:r>
            <a:r>
              <a:rPr sz="2350" spc="-1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browser </a:t>
            </a:r>
            <a:r>
              <a:rPr sz="2350" spc="-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window and open the URL:</a:t>
            </a:r>
            <a:r>
              <a:rPr sz="2350" spc="14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sz="2350" u="heavy" spc="-10" dirty="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Book Antiqua" panose="02040602050305030304"/>
                <a:cs typeface="Book Antiqua" panose="02040602050305030304"/>
              </a:rPr>
              <a:t>http://localhost:1880/ui</a:t>
            </a:r>
            <a:endParaRPr sz="2350" dirty="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9912" y="3182220"/>
            <a:ext cx="11096650" cy="65330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6350000" y="9349618"/>
            <a:ext cx="27940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lang="en-US" altLang="zh-CN" dirty="0"/>
              <a:t>21</a:t>
            </a:r>
            <a:endParaRPr lang="en-US" dirty="0"/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966C98F9-FF13-5D8F-6058-2EB33DD0B18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9900" y="812800"/>
            <a:ext cx="953516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Node-Red </a:t>
            </a:r>
            <a:r>
              <a:rPr spc="-195" dirty="0"/>
              <a:t>Example</a:t>
            </a:r>
            <a:r>
              <a:rPr spc="-765" dirty="0"/>
              <a:t> </a:t>
            </a:r>
            <a:r>
              <a:rPr spc="-140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100" y="3281679"/>
            <a:ext cx="24066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5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sz="21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000" y="3114039"/>
            <a:ext cx="4025900" cy="429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000"/>
              </a:lnSpc>
              <a:spcBef>
                <a:spcPts val="100"/>
              </a:spcBef>
            </a:pPr>
            <a:r>
              <a:rPr sz="3600" spc="-114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You </a:t>
            </a:r>
            <a:r>
              <a:rPr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should see </a:t>
            </a:r>
            <a:r>
              <a:rPr sz="360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a  </a:t>
            </a:r>
            <a:r>
              <a:rPr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chart, which plots  the historical  </a:t>
            </a:r>
            <a:r>
              <a:rPr sz="3600" spc="-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temperature </a:t>
            </a:r>
            <a:r>
              <a:rPr sz="360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of  </a:t>
            </a:r>
            <a:r>
              <a:rPr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various Hong</a:t>
            </a:r>
            <a:r>
              <a:rPr sz="3600" spc="-6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Kong  locations up </a:t>
            </a:r>
            <a:r>
              <a:rPr sz="360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to </a:t>
            </a:r>
            <a:r>
              <a:rPr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the  last </a:t>
            </a:r>
            <a:r>
              <a:rPr sz="360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24</a:t>
            </a:r>
            <a:r>
              <a:rPr sz="3600" spc="-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hours</a:t>
            </a:r>
            <a:endParaRPr sz="36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73421" y="3225800"/>
            <a:ext cx="7457711" cy="49848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6350000" y="9349618"/>
            <a:ext cx="27940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lang="en-US" altLang="zh-CN" dirty="0"/>
              <a:t>22</a:t>
            </a:r>
            <a:endParaRPr lang="en-US" dirty="0"/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2ED28971-D8F5-B519-B634-90A176BC61C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4180" y="954366"/>
            <a:ext cx="12156440" cy="928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950" spc="-100" dirty="0"/>
              <a:t>Exporting </a:t>
            </a:r>
            <a:r>
              <a:rPr sz="5950" spc="-160" dirty="0"/>
              <a:t>Node-Red </a:t>
            </a:r>
            <a:r>
              <a:rPr sz="5950" spc="-170" dirty="0"/>
              <a:t>Flow for</a:t>
            </a:r>
            <a:r>
              <a:rPr sz="5950" spc="-1125" dirty="0"/>
              <a:t> </a:t>
            </a:r>
            <a:r>
              <a:rPr lang="zh-CN" altLang="en-US" sz="5950" spc="-1125" dirty="0"/>
              <a:t> </a:t>
            </a:r>
            <a:r>
              <a:rPr sz="5950" spc="-55" dirty="0"/>
              <a:t>Submission</a:t>
            </a:r>
            <a:endParaRPr sz="5950" dirty="0"/>
          </a:p>
        </p:txBody>
      </p:sp>
      <p:sp>
        <p:nvSpPr>
          <p:cNvPr id="3" name="object 3"/>
          <p:cNvSpPr txBox="1"/>
          <p:nvPr/>
        </p:nvSpPr>
        <p:spPr>
          <a:xfrm>
            <a:off x="546100" y="2260600"/>
            <a:ext cx="8862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100"/>
              </a:spcBef>
              <a:buClr>
                <a:srgbClr val="005493"/>
              </a:buClr>
              <a:buSzPct val="60000"/>
              <a:buFont typeface="Arial Unicode MS"/>
              <a:buChar char="❖"/>
              <a:tabLst>
                <a:tab pos="481965" algn="l"/>
                <a:tab pos="482600" algn="l"/>
              </a:tabLst>
            </a:pPr>
            <a:r>
              <a:rPr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Click the </a:t>
            </a:r>
            <a:r>
              <a:rPr sz="360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top </a:t>
            </a:r>
            <a:r>
              <a:rPr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right icon, </a:t>
            </a:r>
            <a:r>
              <a:rPr sz="360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and </a:t>
            </a:r>
            <a:r>
              <a:rPr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select </a:t>
            </a:r>
            <a:r>
              <a:rPr sz="3600" b="1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Export</a:t>
            </a:r>
            <a:endParaRPr sz="36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9789" y="2728539"/>
            <a:ext cx="11921456" cy="70186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33861" y="3458259"/>
            <a:ext cx="287020" cy="262255"/>
          </a:xfrm>
          <a:custGeom>
            <a:avLst/>
            <a:gdLst/>
            <a:ahLst/>
            <a:cxnLst/>
            <a:rect l="l" t="t" r="r" b="b"/>
            <a:pathLst>
              <a:path w="287020" h="262254">
                <a:moveTo>
                  <a:pt x="0" y="0"/>
                </a:moveTo>
                <a:lnTo>
                  <a:pt x="286662" y="0"/>
                </a:lnTo>
                <a:lnTo>
                  <a:pt x="286662" y="261634"/>
                </a:lnTo>
                <a:lnTo>
                  <a:pt x="0" y="261634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FF2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124897" y="4270631"/>
            <a:ext cx="1840864" cy="262255"/>
          </a:xfrm>
          <a:custGeom>
            <a:avLst/>
            <a:gdLst/>
            <a:ahLst/>
            <a:cxnLst/>
            <a:rect l="l" t="t" r="r" b="b"/>
            <a:pathLst>
              <a:path w="1840865" h="262254">
                <a:moveTo>
                  <a:pt x="0" y="0"/>
                </a:moveTo>
                <a:lnTo>
                  <a:pt x="1840734" y="0"/>
                </a:lnTo>
                <a:lnTo>
                  <a:pt x="1840734" y="261634"/>
                </a:lnTo>
                <a:lnTo>
                  <a:pt x="0" y="261634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FF2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192000" y="3403600"/>
            <a:ext cx="165100" cy="1173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solidFill>
                  <a:srgbClr val="FF2600"/>
                </a:solidFill>
                <a:latin typeface="Book Antiqua" panose="02040602050305030304"/>
                <a:cs typeface="Book Antiqua" panose="02040602050305030304"/>
              </a:rPr>
              <a:t>1</a:t>
            </a:r>
            <a:endParaRPr sz="2200">
              <a:latin typeface="Book Antiqua" panose="02040602050305030304"/>
              <a:cs typeface="Book Antiqua" panose="020406020503050303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2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solidFill>
                  <a:srgbClr val="FF2600"/>
                </a:solidFill>
                <a:latin typeface="Book Antiqua" panose="02040602050305030304"/>
                <a:cs typeface="Book Antiqua" panose="02040602050305030304"/>
              </a:rPr>
              <a:t>2</a:t>
            </a:r>
            <a:endParaRPr sz="22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6350000" y="9349618"/>
            <a:ext cx="27940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lang="en-US" altLang="zh-CN" dirty="0"/>
              <a:t>23</a:t>
            </a:r>
            <a:endParaRPr lang="en-US" dirty="0"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AF4D1F36-AFD7-A07B-927E-C201A72447D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8617" y="2722972"/>
            <a:ext cx="11583535" cy="68196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8800" y="895350"/>
            <a:ext cx="11883390" cy="932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950" spc="-100" dirty="0"/>
              <a:t>Exporting </a:t>
            </a:r>
            <a:r>
              <a:rPr sz="5950" spc="-160" dirty="0"/>
              <a:t>Node-Red </a:t>
            </a:r>
            <a:r>
              <a:rPr sz="5950" spc="-170" dirty="0"/>
              <a:t>Flow for</a:t>
            </a:r>
            <a:r>
              <a:rPr sz="5950" spc="-1125" dirty="0"/>
              <a:t> </a:t>
            </a:r>
            <a:r>
              <a:rPr sz="5950" spc="-55" dirty="0"/>
              <a:t>Submission</a:t>
            </a:r>
            <a:endParaRPr sz="5950"/>
          </a:p>
        </p:txBody>
      </p:sp>
      <p:sp>
        <p:nvSpPr>
          <p:cNvPr id="4" name="object 4"/>
          <p:cNvSpPr txBox="1"/>
          <p:nvPr/>
        </p:nvSpPr>
        <p:spPr>
          <a:xfrm>
            <a:off x="546100" y="2260600"/>
            <a:ext cx="11531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100"/>
              </a:spcBef>
              <a:buClr>
                <a:srgbClr val="005493"/>
              </a:buClr>
              <a:buSzPct val="60000"/>
              <a:buFont typeface="Arial Unicode MS"/>
              <a:buChar char="❖"/>
              <a:tabLst>
                <a:tab pos="481965" algn="l"/>
                <a:tab pos="482600" algn="l"/>
              </a:tabLst>
            </a:pPr>
            <a:r>
              <a:rPr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Select </a:t>
            </a:r>
            <a:r>
              <a:rPr sz="3600" b="1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all </a:t>
            </a:r>
            <a:r>
              <a:rPr sz="3600" b="1" spc="-7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flows</a:t>
            </a:r>
            <a:r>
              <a:rPr sz="3600" spc="-7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, </a:t>
            </a:r>
            <a:r>
              <a:rPr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formatted, </a:t>
            </a:r>
            <a:r>
              <a:rPr sz="360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and </a:t>
            </a:r>
            <a:r>
              <a:rPr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click Download</a:t>
            </a:r>
            <a:r>
              <a:rPr sz="3600" spc="114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button</a:t>
            </a:r>
            <a:endParaRPr sz="36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47560" y="4545822"/>
            <a:ext cx="502284" cy="320675"/>
          </a:xfrm>
          <a:custGeom>
            <a:avLst/>
            <a:gdLst/>
            <a:ahLst/>
            <a:cxnLst/>
            <a:rect l="l" t="t" r="r" b="b"/>
            <a:pathLst>
              <a:path w="502284" h="320675">
                <a:moveTo>
                  <a:pt x="0" y="0"/>
                </a:moveTo>
                <a:lnTo>
                  <a:pt x="501872" y="0"/>
                </a:lnTo>
                <a:lnTo>
                  <a:pt x="501872" y="320597"/>
                </a:lnTo>
                <a:lnTo>
                  <a:pt x="0" y="320597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FF2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477201" y="7206181"/>
            <a:ext cx="487680" cy="198755"/>
          </a:xfrm>
          <a:custGeom>
            <a:avLst/>
            <a:gdLst/>
            <a:ahLst/>
            <a:cxnLst/>
            <a:rect l="l" t="t" r="r" b="b"/>
            <a:pathLst>
              <a:path w="487679" h="198754">
                <a:moveTo>
                  <a:pt x="0" y="0"/>
                </a:moveTo>
                <a:lnTo>
                  <a:pt x="487185" y="0"/>
                </a:lnTo>
                <a:lnTo>
                  <a:pt x="487185" y="198159"/>
                </a:lnTo>
                <a:lnTo>
                  <a:pt x="0" y="198159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2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43700" y="4508500"/>
            <a:ext cx="16510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solidFill>
                  <a:srgbClr val="FF2600"/>
                </a:solidFill>
                <a:latin typeface="Book Antiqua" panose="02040602050305030304"/>
                <a:cs typeface="Book Antiqua" panose="02040602050305030304"/>
              </a:rPr>
              <a:t>1</a:t>
            </a:r>
            <a:endParaRPr sz="22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89078" y="7920291"/>
            <a:ext cx="784860" cy="381000"/>
          </a:xfrm>
          <a:custGeom>
            <a:avLst/>
            <a:gdLst/>
            <a:ahLst/>
            <a:cxnLst/>
            <a:rect l="l" t="t" r="r" b="b"/>
            <a:pathLst>
              <a:path w="784859" h="381000">
                <a:moveTo>
                  <a:pt x="0" y="0"/>
                </a:moveTo>
                <a:lnTo>
                  <a:pt x="784439" y="0"/>
                </a:lnTo>
                <a:lnTo>
                  <a:pt x="784439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2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810500" y="7124700"/>
            <a:ext cx="1346200" cy="1465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solidFill>
                  <a:srgbClr val="FF2600"/>
                </a:solidFill>
                <a:latin typeface="Book Antiqua" panose="02040602050305030304"/>
                <a:cs typeface="Book Antiqua" panose="02040602050305030304"/>
              </a:rPr>
              <a:t>2</a:t>
            </a:r>
            <a:endParaRPr sz="2200">
              <a:latin typeface="Book Antiqua" panose="02040602050305030304"/>
              <a:cs typeface="Book Antiqua" panose="02040602050305030304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solidFill>
                  <a:srgbClr val="FF2600"/>
                </a:solidFill>
                <a:latin typeface="Book Antiqua" panose="02040602050305030304"/>
                <a:cs typeface="Book Antiqua" panose="02040602050305030304"/>
              </a:rPr>
              <a:t>3</a:t>
            </a:r>
            <a:endParaRPr sz="22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6350000" y="9349618"/>
            <a:ext cx="27940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lang="en-US" altLang="zh-CN" dirty="0"/>
              <a:t>24</a:t>
            </a:r>
            <a:endParaRPr lang="en-US" dirty="0"/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2CCCCDD4-E30C-F54A-5FEA-E950743F4AD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9200" y="812800"/>
            <a:ext cx="8019415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Assignment</a:t>
            </a:r>
            <a:r>
              <a:rPr spc="-495" dirty="0"/>
              <a:t> </a:t>
            </a:r>
            <a:r>
              <a:rPr spc="-65" dirty="0"/>
              <a:t>Submission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6350000" y="9349618"/>
            <a:ext cx="27940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40"/>
              </a:lnSpc>
            </a:pPr>
            <a:r>
              <a:rPr lang="en-US" altLang="zh-CN" dirty="0"/>
              <a:t>25</a:t>
            </a:r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573764" y="2646052"/>
            <a:ext cx="24066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5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sz="2150" dirty="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000" y="2514600"/>
            <a:ext cx="11433175" cy="36978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marR="5080" indent="-571500">
              <a:lnSpc>
                <a:spcPct val="111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CN" sz="3600" b="1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Exporte</a:t>
            </a:r>
            <a:r>
              <a:rPr lang="en-US" altLang="zh-CN" sz="3600" b="1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d</a:t>
            </a:r>
            <a:r>
              <a:rPr lang="zh-CN" altLang="en-US" sz="3600" b="1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lang="en-US" altLang="zh-CN" sz="3600" b="1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flow</a:t>
            </a:r>
            <a:r>
              <a:rPr lang="zh-CN" altLang="en-US" sz="3600" b="1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lang="en-US" altLang="zh-CN" sz="3600" b="1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file</a:t>
            </a:r>
            <a:r>
              <a:rPr lang="en-US" altLang="zh-CN"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:</a:t>
            </a:r>
            <a:r>
              <a:rPr lang="zh-CN" altLang="en-US"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After completion </a:t>
            </a:r>
            <a:r>
              <a:rPr sz="360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of </a:t>
            </a:r>
            <a:r>
              <a:rPr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your assignment, </a:t>
            </a:r>
            <a:r>
              <a:rPr sz="360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you </a:t>
            </a:r>
            <a:r>
              <a:rPr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should export  your </a:t>
            </a:r>
            <a:r>
              <a:rPr sz="3600" spc="-1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flows </a:t>
            </a:r>
            <a:r>
              <a:rPr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in your </a:t>
            </a:r>
            <a:r>
              <a:rPr sz="3600" spc="-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node-red environment </a:t>
            </a:r>
            <a:r>
              <a:rPr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for  submission in</a:t>
            </a:r>
            <a:r>
              <a:rPr sz="3600" spc="-10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Moodle.</a:t>
            </a:r>
            <a:endParaRPr lang="en-US" sz="3600" spc="-5" dirty="0">
              <a:solidFill>
                <a:srgbClr val="212121"/>
              </a:solidFill>
              <a:latin typeface="Book Antiqua" panose="02040602050305030304"/>
              <a:cs typeface="Book Antiqua" panose="02040602050305030304"/>
            </a:endParaRPr>
          </a:p>
          <a:p>
            <a:pPr marL="584200" marR="5080" indent="-571500">
              <a:lnSpc>
                <a:spcPct val="111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CN" sz="3600" b="1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Docker</a:t>
            </a:r>
            <a:r>
              <a:rPr lang="zh-CN" altLang="en-US" sz="3600" b="1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lang="en-US" altLang="zh-CN" sz="3600" b="1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ID</a:t>
            </a:r>
            <a:r>
              <a:rPr lang="zh-CN" altLang="en-US" sz="3600" b="1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lang="en-US" altLang="zh-CN"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from</a:t>
            </a:r>
            <a:r>
              <a:rPr lang="zh-CN" altLang="en-US"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lang="en-US" altLang="zh-CN"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docker</a:t>
            </a:r>
            <a:r>
              <a:rPr lang="zh-CN" altLang="en-US"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lang="en-US" altLang="zh-CN"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hub</a:t>
            </a:r>
            <a:r>
              <a:rPr lang="zh-CN" altLang="en-US"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lang="en-US" altLang="zh-CN"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or</a:t>
            </a:r>
            <a:r>
              <a:rPr lang="zh-CN" altLang="en-US"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lang="en-US" altLang="zh-CN"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docker</a:t>
            </a:r>
            <a:r>
              <a:rPr lang="zh-CN" altLang="en-US"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lang="en-US" altLang="zh-CN"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description</a:t>
            </a:r>
            <a:r>
              <a:rPr lang="zh-CN" altLang="en-US"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lang="en-US" altLang="zh-CN"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file</a:t>
            </a:r>
            <a:endParaRPr lang="en-CN" sz="3600" spc="-5" dirty="0">
              <a:solidFill>
                <a:srgbClr val="212121"/>
              </a:solidFill>
              <a:latin typeface="Book Antiqua" panose="02040602050305030304"/>
              <a:cs typeface="Book Antiqua" panose="02040602050305030304"/>
            </a:endParaRPr>
          </a:p>
          <a:p>
            <a:pPr marL="584200" marR="5080" indent="-571500">
              <a:lnSpc>
                <a:spcPct val="111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CN" sz="3600" b="1" dirty="0">
                <a:latin typeface="Book Antiqua" panose="02040602050305030304"/>
                <a:cs typeface="Book Antiqua" panose="02040602050305030304"/>
              </a:rPr>
              <a:t>Project</a:t>
            </a:r>
            <a:r>
              <a:rPr lang="zh-CN" altLang="en-US" sz="36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lang="en-US" altLang="zh-CN" sz="3600" b="1" dirty="0">
                <a:latin typeface="Book Antiqua" panose="02040602050305030304"/>
                <a:cs typeface="Book Antiqua" panose="02040602050305030304"/>
              </a:rPr>
              <a:t>report</a:t>
            </a:r>
            <a:endParaRPr sz="3600" b="1" dirty="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3764" y="6547754"/>
            <a:ext cx="24066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5" dirty="0">
                <a:solidFill>
                  <a:srgbClr val="005493"/>
                </a:solidFill>
                <a:latin typeface="Arial Unicode MS"/>
                <a:cs typeface="Arial Unicode MS"/>
              </a:rPr>
              <a:t>❖</a:t>
            </a:r>
            <a:endParaRPr sz="2150" dirty="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6000" y="6394620"/>
            <a:ext cx="11321415" cy="18296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000"/>
              </a:lnSpc>
              <a:spcBef>
                <a:spcPts val="100"/>
              </a:spcBef>
            </a:pPr>
            <a:r>
              <a:rPr sz="3600" spc="-114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You </a:t>
            </a:r>
            <a:r>
              <a:rPr sz="3600" spc="-5" dirty="0">
                <a:solidFill>
                  <a:srgbClr val="212121"/>
                </a:solidFill>
                <a:latin typeface="Book Antiqua" panose="02040602050305030304"/>
              </a:rPr>
              <a:t>should </a:t>
            </a:r>
            <a:r>
              <a:rPr lang="en-US" altLang="zh-CN" sz="3600" spc="-5" dirty="0">
                <a:solidFill>
                  <a:srgbClr val="212121"/>
                </a:solidFill>
                <a:latin typeface="Book Antiqua" panose="02040602050305030304"/>
              </a:rPr>
              <a:t>provide clear procedure to reproduce your development environment</a:t>
            </a:r>
            <a:r>
              <a:rPr sz="3600" spc="-5" dirty="0">
                <a:solidFill>
                  <a:srgbClr val="212121"/>
                </a:solidFill>
                <a:latin typeface="Book Antiqua" panose="02040602050305030304"/>
              </a:rPr>
              <a:t>, so that your tutor </a:t>
            </a:r>
            <a:r>
              <a:rPr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can </a:t>
            </a:r>
            <a:r>
              <a:rPr lang="en-US"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access</a:t>
            </a:r>
            <a:r>
              <a:rPr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your </a:t>
            </a:r>
            <a:r>
              <a:rPr lang="en-US" altLang="zh-CN"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docker</a:t>
            </a:r>
            <a:r>
              <a:rPr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instance for</a:t>
            </a:r>
            <a:r>
              <a:rPr lang="zh-CN" altLang="en-US"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grading purpose</a:t>
            </a:r>
            <a:r>
              <a:rPr lang="en-US" sz="3600" spc="-5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.</a:t>
            </a:r>
            <a:endParaRPr sz="3600" dirty="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E33A90F-14F4-D7F1-53D7-78968D7D4C9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836400" y="9262163"/>
            <a:ext cx="878840" cy="405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lang="en-US" spc="-5" dirty="0"/>
              <a:t>COMP7503 2026-2027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73DC8-E156-BC41-3B62-C291C96EE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Assignment Submission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244995-C25E-0D50-55D0-0DFF6A539D9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7DAFE-EB02-C8EB-DC4F-D32ADF4EE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940"/>
              </a:lnSpc>
            </a:pPr>
            <a:fld id="{81D60167-4931-47E6-BA6A-407CBD079E47}" type="slidenum">
              <a:rPr lang="en-CN" smtClean="0"/>
              <a:t>36</a:t>
            </a:fld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5414E3-4F30-715B-A0D5-E59E25E31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820" y="12192000"/>
            <a:ext cx="9906000" cy="70278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F69240-8CE3-B930-2BD6-64B82DF2E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36368" y="11231638"/>
            <a:ext cx="7772400" cy="5552892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C79CDD8D-5B65-5D48-82F8-6041B76068A7}"/>
              </a:ext>
            </a:extLst>
          </p:cNvPr>
          <p:cNvSpPr txBox="1"/>
          <p:nvPr/>
        </p:nvSpPr>
        <p:spPr>
          <a:xfrm>
            <a:off x="954405" y="2510797"/>
            <a:ext cx="11321415" cy="57487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000"/>
              </a:lnSpc>
              <a:spcBef>
                <a:spcPts val="100"/>
              </a:spcBef>
            </a:pPr>
            <a:r>
              <a:rPr lang="en-US" sz="2400" spc="-114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First, login to docker: </a:t>
            </a:r>
            <a:r>
              <a:rPr lang="en-US" sz="2400" spc="-114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login</a:t>
            </a:r>
          </a:p>
          <a:p>
            <a:pPr marL="12700" marR="5080">
              <a:lnSpc>
                <a:spcPct val="111000"/>
              </a:lnSpc>
              <a:spcBef>
                <a:spcPts val="100"/>
              </a:spcBef>
            </a:pPr>
            <a:r>
              <a:rPr lang="en-US" sz="2400" spc="-114" dirty="0">
                <a:solidFill>
                  <a:srgbClr val="212121"/>
                </a:solidFill>
                <a:latin typeface="Book Antiqua" panose="02040602050305030304"/>
                <a:cs typeface="Courier New" panose="02070309020205020404" pitchFamily="49" charset="0"/>
              </a:rPr>
              <a:t>Search your docker images: </a:t>
            </a:r>
            <a:r>
              <a:rPr lang="en-US" sz="2400" spc="-114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image</a:t>
            </a:r>
          </a:p>
          <a:p>
            <a:pPr marL="12700" marR="5080">
              <a:lnSpc>
                <a:spcPct val="111000"/>
              </a:lnSpc>
              <a:spcBef>
                <a:spcPts val="100"/>
              </a:spcBef>
            </a:pPr>
            <a:endParaRPr lang="en-US" sz="2400" spc="-114" dirty="0">
              <a:solidFill>
                <a:srgbClr val="212121"/>
              </a:solidFill>
              <a:latin typeface="Book Antiqua" panose="02040602050305030304"/>
              <a:cs typeface="Courier New" panose="02070309020205020404" pitchFamily="49" charset="0"/>
            </a:endParaRPr>
          </a:p>
          <a:p>
            <a:pPr marL="12700" marR="5080">
              <a:lnSpc>
                <a:spcPct val="111000"/>
              </a:lnSpc>
              <a:spcBef>
                <a:spcPts val="100"/>
              </a:spcBef>
            </a:pPr>
            <a:endParaRPr lang="en-US" sz="2400" spc="-114" dirty="0">
              <a:solidFill>
                <a:srgbClr val="212121"/>
              </a:solidFill>
              <a:latin typeface="Book Antiqua" panose="02040602050305030304"/>
              <a:cs typeface="Courier New" panose="02070309020205020404" pitchFamily="49" charset="0"/>
            </a:endParaRPr>
          </a:p>
          <a:p>
            <a:pPr marL="12700" marR="5080">
              <a:lnSpc>
                <a:spcPct val="111000"/>
              </a:lnSpc>
              <a:spcBef>
                <a:spcPts val="100"/>
              </a:spcBef>
            </a:pPr>
            <a:endParaRPr lang="en-US" sz="2400" spc="-114" dirty="0">
              <a:solidFill>
                <a:srgbClr val="212121"/>
              </a:solidFill>
              <a:latin typeface="Book Antiqua" panose="02040602050305030304"/>
              <a:cs typeface="Courier New" panose="02070309020205020404" pitchFamily="49" charset="0"/>
            </a:endParaRPr>
          </a:p>
          <a:p>
            <a:pPr marL="12700" marR="5080">
              <a:lnSpc>
                <a:spcPct val="111000"/>
              </a:lnSpc>
              <a:spcBef>
                <a:spcPts val="100"/>
              </a:spcBef>
            </a:pPr>
            <a:endParaRPr lang="en-US" sz="2400" spc="-114" dirty="0">
              <a:solidFill>
                <a:srgbClr val="212121"/>
              </a:solidFill>
              <a:latin typeface="Book Antiqua" panose="02040602050305030304"/>
              <a:cs typeface="Courier New" panose="02070309020205020404" pitchFamily="49" charset="0"/>
            </a:endParaRPr>
          </a:p>
          <a:p>
            <a:pPr marL="12700" marR="5080">
              <a:lnSpc>
                <a:spcPct val="111000"/>
              </a:lnSpc>
              <a:spcBef>
                <a:spcPts val="100"/>
              </a:spcBef>
            </a:pPr>
            <a:r>
              <a:rPr lang="en-US" sz="2400" spc="-114" dirty="0">
                <a:solidFill>
                  <a:srgbClr val="212121"/>
                </a:solidFill>
                <a:latin typeface="Book Antiqua" panose="02040602050305030304"/>
                <a:cs typeface="Courier New" panose="02070309020205020404" pitchFamily="49" charset="0"/>
              </a:rPr>
              <a:t>Tag your docker images: </a:t>
            </a:r>
          </a:p>
          <a:p>
            <a:pPr marL="12700" marR="5080">
              <a:lnSpc>
                <a:spcPct val="111000"/>
              </a:lnSpc>
              <a:spcBef>
                <a:spcPts val="100"/>
              </a:spcBef>
            </a:pPr>
            <a:r>
              <a:rPr lang="en-US" sz="2400" spc="-114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tag  &lt;Image ID&gt;  &lt;username&gt;/</a:t>
            </a:r>
            <a:r>
              <a:rPr lang="en-US" sz="2400" spc="-114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smartcitymongo:latest</a:t>
            </a:r>
            <a:endParaRPr lang="en-US" sz="2400" spc="-114" dirty="0">
              <a:solidFill>
                <a:srgbClr val="21212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spc="-114" dirty="0">
                <a:solidFill>
                  <a:srgbClr val="212121"/>
                </a:solidFill>
                <a:latin typeface="Book Antiqua" panose="02040602050305030304"/>
                <a:cs typeface="Courier New" panose="02070309020205020404" pitchFamily="49" charset="0"/>
              </a:rPr>
              <a:t>Example: 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tag 6cfa4c5d2 Shenstone01/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smartcitynodered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tag b80341870 Shenstone01/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smartcitymongo</a:t>
            </a:r>
            <a:endParaRPr lang="en-US" sz="2400" spc="-114" dirty="0">
              <a:solidFill>
                <a:srgbClr val="21212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 marR="5080">
              <a:lnSpc>
                <a:spcPct val="111000"/>
              </a:lnSpc>
              <a:spcBef>
                <a:spcPts val="100"/>
              </a:spcBef>
            </a:pPr>
            <a:endParaRPr lang="en-US" sz="2400" spc="-114" dirty="0">
              <a:solidFill>
                <a:srgbClr val="21212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 marR="5080">
              <a:lnSpc>
                <a:spcPct val="111000"/>
              </a:lnSpc>
              <a:spcBef>
                <a:spcPts val="100"/>
              </a:spcBef>
            </a:pPr>
            <a:endParaRPr lang="en-US" sz="2400" spc="-114" dirty="0">
              <a:solidFill>
                <a:srgbClr val="212121"/>
              </a:solidFill>
              <a:latin typeface="Book Antiqua" panose="02040602050305030304"/>
              <a:cs typeface="Courier New" panose="02070309020205020404" pitchFamily="49" charset="0"/>
            </a:endParaRPr>
          </a:p>
          <a:p>
            <a:pPr marL="12700" marR="5080">
              <a:lnSpc>
                <a:spcPct val="111000"/>
              </a:lnSpc>
              <a:spcBef>
                <a:spcPts val="100"/>
              </a:spcBef>
            </a:pPr>
            <a:endParaRPr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3C822E-F642-C3BB-9EE9-5756BED9BB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25" t="43370" r="48282" b="45788"/>
          <a:stretch>
            <a:fillRect/>
          </a:stretch>
        </p:blipFill>
        <p:spPr>
          <a:xfrm>
            <a:off x="1511631" y="3414534"/>
            <a:ext cx="9066043" cy="14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7316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2F5B9-4D03-B40A-C083-8F0AA2F41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00C2C-48C6-B5BE-DA15-11E8726D0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Assignment Submission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D18CCE-AB8C-0041-F51C-C10898861AE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9F0E5-E872-C782-9187-F40BE5B9820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940"/>
              </a:lnSpc>
            </a:pPr>
            <a:fld id="{81D60167-4931-47E6-BA6A-407CBD079E47}" type="slidenum">
              <a:rPr lang="en-CN" smtClean="0"/>
              <a:t>37</a:t>
            </a:fld>
            <a:endParaRPr lang="en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2F4D26-2E04-B745-3C7F-D31E7147F6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73" t="35275" r="20832"/>
          <a:stretch>
            <a:fillRect/>
          </a:stretch>
        </p:blipFill>
        <p:spPr>
          <a:xfrm>
            <a:off x="2235200" y="4941957"/>
            <a:ext cx="7924800" cy="4864497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8D1AB614-3741-8114-7683-D1707ED6791B}"/>
              </a:ext>
            </a:extLst>
          </p:cNvPr>
          <p:cNvSpPr txBox="1"/>
          <p:nvPr/>
        </p:nvSpPr>
        <p:spPr>
          <a:xfrm>
            <a:off x="954405" y="1752600"/>
            <a:ext cx="11321415" cy="41510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000"/>
              </a:lnSpc>
              <a:spcBef>
                <a:spcPts val="100"/>
              </a:spcBef>
            </a:pPr>
            <a:r>
              <a:rPr lang="en-US" sz="3000" spc="-114" dirty="0">
                <a:solidFill>
                  <a:srgbClr val="212121"/>
                </a:solidFill>
                <a:latin typeface="Book Antiqua" panose="02040602050305030304"/>
                <a:cs typeface="Book Antiqua" panose="02040602050305030304"/>
              </a:rPr>
              <a:t>You can push your image by: </a:t>
            </a:r>
            <a:r>
              <a:rPr lang="en-US" sz="3000" spc="-114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push &lt;your-username&gt;/</a:t>
            </a:r>
            <a:r>
              <a:rPr lang="en-US" sz="3000" spc="-114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smartcitymongo:latest</a:t>
            </a:r>
            <a:endParaRPr lang="en-US" sz="3000" spc="-114" dirty="0">
              <a:solidFill>
                <a:srgbClr val="21212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 marR="5080">
              <a:lnSpc>
                <a:spcPct val="111000"/>
              </a:lnSpc>
              <a:spcBef>
                <a:spcPts val="100"/>
              </a:spcBef>
            </a:pPr>
            <a:r>
              <a:rPr lang="en-US" sz="3000" spc="-114" dirty="0">
                <a:solidFill>
                  <a:srgbClr val="212121"/>
                </a:solidFill>
                <a:latin typeface="Book Antiqua" panose="02040602050305030304"/>
                <a:cs typeface="Courier New" panose="02070309020205020404" pitchFamily="49" charset="0"/>
              </a:rPr>
              <a:t>You can download (pull) the example: </a:t>
            </a:r>
            <a:r>
              <a:rPr lang="en-US" sz="3000" spc="-114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pull shenstone01/</a:t>
            </a:r>
            <a:r>
              <a:rPr lang="en-US" sz="3000" spc="-114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smartcitymongo:latest</a:t>
            </a:r>
            <a:endParaRPr lang="en-US" sz="3000" spc="-114" dirty="0">
              <a:solidFill>
                <a:srgbClr val="21212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 marR="5080">
              <a:lnSpc>
                <a:spcPct val="111000"/>
              </a:lnSpc>
              <a:spcBef>
                <a:spcPts val="100"/>
              </a:spcBef>
            </a:pPr>
            <a:r>
              <a:rPr lang="en-US" sz="3000" spc="-114" dirty="0">
                <a:solidFill>
                  <a:srgbClr val="212121"/>
                </a:solidFill>
                <a:latin typeface="Book Antiqua" panose="02040602050305030304"/>
                <a:cs typeface="Courier New" panose="02070309020205020404" pitchFamily="49" charset="0"/>
              </a:rPr>
              <a:t>For example: </a:t>
            </a:r>
            <a:r>
              <a:rPr lang="en-US" sz="3000" spc="-114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push shenstone01/</a:t>
            </a:r>
            <a:r>
              <a:rPr lang="en-US" sz="3000" spc="-114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smartcitymongo:latest</a:t>
            </a:r>
            <a:endParaRPr lang="en-US" sz="3000" spc="-114" dirty="0">
              <a:solidFill>
                <a:srgbClr val="21212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 marR="5080">
              <a:lnSpc>
                <a:spcPct val="111000"/>
              </a:lnSpc>
              <a:spcBef>
                <a:spcPts val="100"/>
              </a:spcBef>
            </a:pPr>
            <a:endParaRPr lang="en-US" sz="3000" spc="-114" dirty="0">
              <a:solidFill>
                <a:srgbClr val="212121"/>
              </a:solidFill>
              <a:latin typeface="Book Antiqua" panose="02040602050305030304"/>
              <a:cs typeface="Courier New" panose="02070309020205020404" pitchFamily="49" charset="0"/>
            </a:endParaRPr>
          </a:p>
          <a:p>
            <a:pPr marL="12700" marR="5080">
              <a:lnSpc>
                <a:spcPct val="111000"/>
              </a:lnSpc>
              <a:spcBef>
                <a:spcPts val="100"/>
              </a:spcBef>
            </a:pPr>
            <a:endParaRPr sz="3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0911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FB940-A2E0-3723-271C-1B46C859B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Assignment Submission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D01C7-BF98-A7EB-846C-B617655C94A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33489A-2508-0409-D07A-E5C71E02FD1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940"/>
              </a:lnSpc>
            </a:pPr>
            <a:fld id="{81D60167-4931-47E6-BA6A-407CBD079E47}" type="slidenum">
              <a:rPr lang="en-CN" smtClean="0"/>
              <a:t>38</a:t>
            </a:fld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127203-5D23-9DBD-48CA-3AC5CEEC6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950" y="2045502"/>
            <a:ext cx="10346099" cy="7163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1432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C7356-90A8-9541-05A3-A3E3632BA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Backup (for Mac users)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B3C33-3F9B-4837-214F-5670137F0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720" y="2120900"/>
            <a:ext cx="11897360" cy="276999"/>
          </a:xfrm>
        </p:spPr>
        <p:txBody>
          <a:bodyPr/>
          <a:lstStyle/>
          <a:p>
            <a:r>
              <a:rPr lang="en-CN" dirty="0"/>
              <a:t>Change this URL to </a:t>
            </a:r>
            <a:r>
              <a:rPr lang="en-US" dirty="0" err="1"/>
              <a:t>mongodb</a:t>
            </a:r>
            <a:r>
              <a:rPr lang="en-US" dirty="0"/>
              <a:t>://host.docker.internal:27017/test if the data is empty in visualizer</a:t>
            </a:r>
            <a:endParaRPr lang="en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94C0A-E450-8763-570D-C8C24848949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F7E379-EDBB-6CBE-95FE-37776570C20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940"/>
              </a:lnSpc>
            </a:pPr>
            <a:fld id="{81D60167-4931-47E6-BA6A-407CBD079E47}" type="slidenum">
              <a:rPr lang="en-CN" smtClean="0"/>
              <a:t>39</a:t>
            </a:fld>
            <a:endParaRPr lang="en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78FC10-CD16-A93C-AF34-9EBA04268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254" y="2835481"/>
            <a:ext cx="10194289" cy="6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617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E6031-7EAD-9513-CDE5-0CE88BE60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Backup (for Mac users)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CE9F4-07F5-6BE9-507F-01AB17CA1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720" y="2120900"/>
            <a:ext cx="11897360" cy="1938992"/>
          </a:xfrm>
        </p:spPr>
        <p:txBody>
          <a:bodyPr/>
          <a:lstStyle/>
          <a:p>
            <a:r>
              <a:rPr lang="en-CN" dirty="0"/>
              <a:t>If still does not work: change “get last update time” to </a:t>
            </a:r>
            <a:br>
              <a:rPr lang="en-CN" dirty="0"/>
            </a:br>
            <a:r>
              <a:rPr lang="en-US" dirty="0"/>
              <a:t>if (</a:t>
            </a:r>
            <a:r>
              <a:rPr lang="en-US" dirty="0" err="1"/>
              <a:t>msg.payload</a:t>
            </a:r>
            <a:r>
              <a:rPr lang="en-US" dirty="0"/>
              <a:t> &amp;&amp; </a:t>
            </a:r>
            <a:r>
              <a:rPr lang="en-US" dirty="0" err="1"/>
              <a:t>msg.payload.updateTime</a:t>
            </a:r>
            <a:r>
              <a:rPr lang="en-US" dirty="0"/>
              <a:t>) {</a:t>
            </a:r>
          </a:p>
          <a:p>
            <a:r>
              <a:rPr lang="en-US" dirty="0" err="1"/>
              <a:t>flow.set</a:t>
            </a:r>
            <a:r>
              <a:rPr lang="en-US" dirty="0"/>
              <a:t>('</a:t>
            </a:r>
            <a:r>
              <a:rPr lang="en-US" dirty="0" err="1"/>
              <a:t>lastUpdateTime</a:t>
            </a:r>
            <a:r>
              <a:rPr lang="en-US" dirty="0"/>
              <a:t>', </a:t>
            </a:r>
            <a:r>
              <a:rPr lang="en-US" dirty="0" err="1"/>
              <a:t>msg.payload.updateTime</a:t>
            </a:r>
            <a:r>
              <a:rPr lang="en-US" dirty="0"/>
              <a:t>);</a:t>
            </a:r>
          </a:p>
          <a:p>
            <a:r>
              <a:rPr lang="en-US" dirty="0"/>
              <a:t>} else {</a:t>
            </a:r>
          </a:p>
          <a:p>
            <a:r>
              <a:rPr lang="en-US" dirty="0" err="1"/>
              <a:t>flow.set</a:t>
            </a:r>
            <a:r>
              <a:rPr lang="en-US" dirty="0"/>
              <a:t>('</a:t>
            </a:r>
            <a:r>
              <a:rPr lang="en-US" dirty="0" err="1"/>
              <a:t>lastUpdateTime</a:t>
            </a:r>
            <a:r>
              <a:rPr lang="en-US" dirty="0"/>
              <a:t>', "");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return msg;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0CD446-8905-59C9-2856-5DEAD81BBBE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algn="ctr">
              <a:lnSpc>
                <a:spcPts val="1430"/>
              </a:lnSpc>
            </a:pPr>
            <a:r>
              <a:rPr lang="en-US" spc="-5"/>
              <a:t>COMP7503 2026-2027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86E160-2EB7-AB50-426E-FCCA24B46B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940"/>
              </a:lnSpc>
            </a:pPr>
            <a:fld id="{81D60167-4931-47E6-BA6A-407CBD079E47}" type="slidenum">
              <a:rPr lang="en-CN" smtClean="0"/>
              <a:t>40</a:t>
            </a:fld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69B883-6E8E-E6AB-039D-64B7D7C88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800" y="3702844"/>
            <a:ext cx="7772400" cy="605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1582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zAxMTk0NzBjMzY3OWVhYzRjMjAyNTdkMjZhMGQyZm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1212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</TotalTime>
  <Words>1918</Words>
  <Application>Microsoft Macintosh PowerPoint</Application>
  <PresentationFormat>Custom</PresentationFormat>
  <Paragraphs>334</Paragraphs>
  <Slides>40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 Unicode MS</vt:lpstr>
      <vt:lpstr>Arial</vt:lpstr>
      <vt:lpstr>Book Antiqua</vt:lpstr>
      <vt:lpstr>Calibri</vt:lpstr>
      <vt:lpstr>Courier New</vt:lpstr>
      <vt:lpstr>Garamond</vt:lpstr>
      <vt:lpstr>Times New Roman</vt:lpstr>
      <vt:lpstr>Office Theme</vt:lpstr>
      <vt:lpstr>COMP7503 Multimedia Technology Programming Assignment 1</vt:lpstr>
      <vt:lpstr>Roadmap</vt:lpstr>
      <vt:lpstr>1. Project Overview</vt:lpstr>
      <vt:lpstr>Project Overview</vt:lpstr>
      <vt:lpstr>Project Overview</vt:lpstr>
      <vt:lpstr>2. Environment Setup</vt:lpstr>
      <vt:lpstr>Environment Setup</vt:lpstr>
      <vt:lpstr>3. Docker Basics</vt:lpstr>
      <vt:lpstr>Docker for Linux: Setting Up</vt:lpstr>
      <vt:lpstr>Docker Basics</vt:lpstr>
      <vt:lpstr>Create and activate a docker Account</vt:lpstr>
      <vt:lpstr>Creating Your Docker Container</vt:lpstr>
      <vt:lpstr>Creating Your Docker Container</vt:lpstr>
      <vt:lpstr>4. Project Specific Docker Configuration</vt:lpstr>
      <vt:lpstr>Install Node-RED Using Docker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Installing MongoDB and Dashboard Modules in NodeRed</vt:lpstr>
      <vt:lpstr>Installing MongoDB and Dashboard Modules in NodeRed</vt:lpstr>
      <vt:lpstr>Accessing MongoDB</vt:lpstr>
      <vt:lpstr>Node-Red Example Program</vt:lpstr>
      <vt:lpstr>Node-Red Example Program</vt:lpstr>
      <vt:lpstr>Node-Red Example Program</vt:lpstr>
      <vt:lpstr>Node-Red Example Program</vt:lpstr>
      <vt:lpstr>Node-Red Example Program</vt:lpstr>
      <vt:lpstr>Exporting Node-Red Flow for  Submission</vt:lpstr>
      <vt:lpstr>Exporting Node-Red Flow for Submission</vt:lpstr>
      <vt:lpstr>Assignment Submission</vt:lpstr>
      <vt:lpstr>Assignment Submission</vt:lpstr>
      <vt:lpstr>Assignment Submission</vt:lpstr>
      <vt:lpstr>Assignment Submission</vt:lpstr>
      <vt:lpstr>Backup (for Mac users)</vt:lpstr>
      <vt:lpstr>Backup (for Mac users)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Setup Guide for AWS EC2 Instance - v2</dc:title>
  <dc:creator/>
  <cp:lastModifiedBy>LIU Xuan</cp:lastModifiedBy>
  <cp:revision>87</cp:revision>
  <dcterms:created xsi:type="dcterms:W3CDTF">2020-10-05T03:32:00Z</dcterms:created>
  <dcterms:modified xsi:type="dcterms:W3CDTF">2026-10-22T10:45:23Z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2019-10-28T00:00:00Z</vt:filetime>
  </property>
  <property fmtid="{D5CDD505-2E9C-101B-9397-08002B2CF9AE}" pid="3" name="Creator">
    <vt:lpwstr>Keynote</vt:lpwstr>
  </property>
  <property fmtid="{D5CDD505-2E9C-101B-9397-08002B2CF9AE}" pid="4" name="LastSaved">
    <vt:filetime>2020-10-06T00:00:00Z</vt:filetime>
  </property>
  <property fmtid="{D5CDD505-2E9C-101B-9397-08002B2CF9AE}" pid="5" name="ICV">
    <vt:lpwstr>E746AD12D461414284F69198DD9ECE07</vt:lpwstr>
  </property>
  <property fmtid="{D5CDD505-2E9C-101B-9397-08002B2CF9AE}" pid="6" name="KSOProductBuildVer">
    <vt:lpwstr>2052-11.1.0.12358</vt:lpwstr>
  </property>
</Properties>
</file>